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A0AE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מבנה ארגוני קיים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23560" y="201168"/>
            <a:ext cx="13258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200" b="1">
                <a:solidFill>
                  <a:srgbClr val="F0C000"/>
                </a:solidFill>
                <a:latin typeface="Heebo"/>
                <a:cs typeface="Heebo"/>
              </a:rPr>
              <a:t>49</a:t>
            </a:r>
            <a:r>
              <a:rPr sz="1300">
                <a:solidFill>
                  <a:srgbClr val="FFFFFF"/>
                </a:solidFill>
                <a:latin typeface="Heebo"/>
              </a:rPr>
              <a:t> אנשים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201168"/>
            <a:ext cx="13258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200" b="1">
                <a:solidFill>
                  <a:srgbClr val="F0C000"/>
                </a:solidFill>
                <a:latin typeface="Heebo"/>
                <a:cs typeface="Heebo"/>
              </a:rPr>
              <a:t>4</a:t>
            </a:r>
            <a:r>
              <a:rPr sz="1300">
                <a:solidFill>
                  <a:srgbClr val="FFFFFF"/>
                </a:solidFill>
                <a:latin typeface="Heebo"/>
              </a:rPr>
              <a:t> צוותים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987552"/>
            <a:ext cx="11368735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4A5568"/>
                </a:solidFill>
                <a:latin typeface="Heebo"/>
                <a:cs typeface="Heebo"/>
              </a:rPr>
              <a:t>דירקטוריון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2501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501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501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מייסד · ראש תחום כלכלה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103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103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103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ביטחון אישי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060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7060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7060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רפואה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33082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3082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3082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חקיקה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9104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9104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9104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חינוך ואתיקה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512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0512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12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משפט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4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רווחה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095847" y="1792224"/>
            <a:ext cx="0" cy="164592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4907127" y="1956816"/>
            <a:ext cx="2377440" cy="438912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907127" y="2011680"/>
            <a:ext cx="2377440" cy="22823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07127" y="2198217"/>
            <a:ext cx="2377440" cy="17556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22678" y="2843784"/>
            <a:ext cx="4057533" cy="2862072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56272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6272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6272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· צוות מחקר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44598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44598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130053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30053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81411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81411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מרדכי קמלמן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44598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44598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יפית בירון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130053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130053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נתנאל מאמו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81411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1411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ישי זנגן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044598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44598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אלון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130053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130053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ליאור טלמור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81411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81411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עידן ליפשיץ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044598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44598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יהודה ליבנר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130053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130053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מיכאל פסין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81411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81411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הדר שטרול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1044598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44598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130053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130053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אסתר הורוביץ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781411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81411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מנחם ברעם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044598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44598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משה לנגלב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130053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130053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בנימין רוזנסקי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781411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81411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חגי כהן קלונימוס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3390825" y="2843784"/>
            <a:ext cx="4057533" cy="165506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4230871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230871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230871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· צוות אקטיביסטים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611413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11413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רוני מרטין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4798200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798200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בנימין שיפרין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348226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48226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משה הלר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611413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11413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יהודה שוורצמן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4798200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798200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צופיה צדוק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348226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348226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יצחק פינק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6114135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114135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דובי ג'ייקובס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4798200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798200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סתיו רוט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5419591" y="4498848"/>
            <a:ext cx="0" cy="20116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Rounded Rectangle 95"/>
          <p:cNvSpPr/>
          <p:nvPr/>
        </p:nvSpPr>
        <p:spPr>
          <a:xfrm>
            <a:off x="3390825" y="4892040"/>
            <a:ext cx="4057533" cy="156362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4230871" y="4700016"/>
            <a:ext cx="2377440" cy="384048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230871" y="4754880"/>
            <a:ext cx="2377440" cy="19970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יהונתן אמתי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230871" y="4911242"/>
            <a:ext cx="2377440" cy="15361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רכז נוער · קבוצת נוער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611413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11413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אביתר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4798200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798200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אשל לוין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348226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348226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יהודה יאיר שיוביץ'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611413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11413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יובל גרינברגר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4798200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4798200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348226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348226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משה הורוביץ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6114135" y="601675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114135" y="601675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שני קולברש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411483" y="2843784"/>
            <a:ext cx="2705022" cy="2459736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ounded Rectangle 114"/>
          <p:cNvSpPr/>
          <p:nvPr/>
        </p:nvSpPr>
        <p:spPr>
          <a:xfrm>
            <a:off x="57527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57527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איתמר כהן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527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(טוויטר) · צוות דיגיטל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1800570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800570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5B6475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00570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(אינסטגרם)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502923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502923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5B6475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502923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(פייסבוק)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1800570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1800570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5B6475"/>
                </a:solidFill>
                <a:latin typeface="Heebo"/>
                <a:cs typeface="Heebo"/>
              </a:rPr>
              <a:t>מנחם זיבוטפסקי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800570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(יוטיוב)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502923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502923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5B6475"/>
                </a:solidFill>
                <a:latin typeface="Heebo"/>
                <a:cs typeface="Heebo"/>
              </a:rPr>
              <a:t>יהודה חדאד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02923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(אתר)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1800570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1800570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יוסף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502923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502923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יהודה הנדלר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1800570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1800570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502923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02923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1800570" y="4864608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1800570" y="4864608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משה הלר</a:t>
            </a:r>
          </a:p>
        </p:txBody>
      </p:sp>
      <p:cxnSp>
        <p:nvCxnSpPr>
          <p:cNvPr id="140" name="Connector 139"/>
          <p:cNvCxnSpPr/>
          <p:nvPr/>
        </p:nvCxnSpPr>
        <p:spPr>
          <a:xfrm>
            <a:off x="6095847" y="2395728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1763994" y="2505456"/>
            <a:ext cx="7987450" cy="0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975144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5419591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>
            <a:off x="176399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A0AE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זמינות במבנה הארגוני הקיים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כל אדם צבוע לפי רמת הזמינות שלו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987552"/>
            <a:ext cx="11368735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4A5568"/>
                </a:solidFill>
                <a:latin typeface="Heebo"/>
                <a:cs typeface="Heebo"/>
              </a:rPr>
              <a:t>דירקטוריון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501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501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01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מייסד · ראש תחום כלכלה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103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103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103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ביטחון אישי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7060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7060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060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רפואה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3082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082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082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חקיקה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9104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9104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9104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חינוך ואתיקה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512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512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12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משפט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רווחה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95847" y="1792224"/>
            <a:ext cx="0" cy="164592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4907127" y="1956816"/>
            <a:ext cx="2377440" cy="438912"/>
          </a:xfrm>
          <a:prstGeom prst="roundRect">
            <a:avLst>
              <a:gd name="adj" fmla="val 18000"/>
            </a:avLst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07127" y="2011680"/>
            <a:ext cx="2377440" cy="22823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07127" y="2198217"/>
            <a:ext cx="2377440" cy="17556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22678" y="2843784"/>
            <a:ext cx="4057533" cy="2862072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56272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6272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6272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· צוות מחקר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44598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44598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30053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30053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81411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1411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מרדכי קמלמן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44598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44598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יפית בירון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130053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30053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נתנאל מאמו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81411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81411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ישי זנגן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44598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44598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אלון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130053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30053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ליאור טלמור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81411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81411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עידן ליפשיץ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044598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44598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ליבנר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130053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130053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מיכאל פסין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81411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81411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הדר שטרול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044598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44598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130053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130053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אסתר הורוביץ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81411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81411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מנחם ברעם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044598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44598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לנגלב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130053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130053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בנימין רוזנסקי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81411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81411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חגי כהן קלונימוס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390825" y="2843784"/>
            <a:ext cx="4057533" cy="165506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4230871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230871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230871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· צוות אקטיביסטים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11413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11413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רוני מרטין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798200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798200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בנימין שיפרין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348226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48226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הלר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11413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11413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שוורצמן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4798200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798200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צופיה צדוק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48226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48226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יצחק פינק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114135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114135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דובי ג'ייקובס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798200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798200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סתיו רוט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5419591" y="4498848"/>
            <a:ext cx="0" cy="20116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Rounded Rectangle 94"/>
          <p:cNvSpPr/>
          <p:nvPr/>
        </p:nvSpPr>
        <p:spPr>
          <a:xfrm>
            <a:off x="3390825" y="4892040"/>
            <a:ext cx="4057533" cy="156362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4230871" y="4700016"/>
            <a:ext cx="2377440" cy="384048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230871" y="4754880"/>
            <a:ext cx="2377440" cy="19970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יהונתן אמתי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230871" y="4911242"/>
            <a:ext cx="2377440" cy="15361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רכז נוער · קבוצת נוער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11413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11413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אביתר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4798200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798200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אשל לוין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348226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348226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יאיר שיוביץ'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11413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11413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יובל גרינברגר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4798200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798200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348226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348226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הורוביץ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6114135" y="601675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114135" y="601675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שני קולברש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411483" y="2843784"/>
            <a:ext cx="2705022" cy="2459736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57527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7527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איתמר כהן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7527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(טוויטר) · צוות דיגיטל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1800570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1800570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800570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(אינסטגרם)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02923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02923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02923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(פייסבוק)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1800570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800570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מנחם זיבוטפסקי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0570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(יוטיוב)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502923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02923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יהודה חדאד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02923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(אתר)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800570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800570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502923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502923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הנדלר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1800570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800570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502923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502923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1800570" y="4864608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800570" y="4864608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הלר</a:t>
            </a:r>
          </a:p>
        </p:txBody>
      </p:sp>
      <p:cxnSp>
        <p:nvCxnSpPr>
          <p:cNvPr id="139" name="Connector 138"/>
          <p:cNvCxnSpPr/>
          <p:nvPr/>
        </p:nvCxnSpPr>
        <p:spPr>
          <a:xfrm>
            <a:off x="6095847" y="2395728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1763994" y="2505456"/>
            <a:ext cx="7987450" cy="0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975144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5419591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176399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Oval 143"/>
          <p:cNvSpPr/>
          <p:nvPr/>
        </p:nvSpPr>
        <p:spPr>
          <a:xfrm>
            <a:off x="6565392" y="374904"/>
            <a:ext cx="146304" cy="146304"/>
          </a:xfrm>
          <a:prstGeom prst="ellipse">
            <a:avLst/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44068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2 · גבוהה</a:t>
            </a:r>
          </a:p>
        </p:txBody>
      </p:sp>
      <p:sp>
        <p:nvSpPr>
          <p:cNvPr id="146" name="Oval 145"/>
          <p:cNvSpPr/>
          <p:nvPr/>
        </p:nvSpPr>
        <p:spPr>
          <a:xfrm>
            <a:off x="5239512" y="374904"/>
            <a:ext cx="146304" cy="146304"/>
          </a:xfrm>
          <a:prstGeom prst="ellipse">
            <a:avLst/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411480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32 · בינונית</a:t>
            </a:r>
          </a:p>
        </p:txBody>
      </p:sp>
      <p:sp>
        <p:nvSpPr>
          <p:cNvPr id="148" name="Oval 147"/>
          <p:cNvSpPr/>
          <p:nvPr/>
        </p:nvSpPr>
        <p:spPr>
          <a:xfrm>
            <a:off x="3913632" y="374904"/>
            <a:ext cx="146304" cy="146304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278892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15 · נמוכה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מבנה ארגוני מוצע · עבודת הכנסת ה-26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5166359" y="1097280"/>
            <a:ext cx="5577840" cy="5577840"/>
          </a:xfrm>
          <a:prstGeom prst="ellipse">
            <a:avLst/>
          </a:prstGeom>
          <a:solidFill>
            <a:srgbClr val="EEF1F7"/>
          </a:solidFill>
          <a:ln w="19050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035039" y="1965960"/>
            <a:ext cx="3840480" cy="3840480"/>
          </a:xfrm>
          <a:prstGeom prst="ellipse">
            <a:avLst/>
          </a:prstGeom>
          <a:solidFill>
            <a:srgbClr val="D9E1F0"/>
          </a:solidFill>
          <a:ln w="19050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7999" y="2788920"/>
            <a:ext cx="2194560" cy="2194560"/>
          </a:xfrm>
          <a:prstGeom prst="ellipse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7999" y="3044952"/>
            <a:ext cx="2194560" cy="21945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122755"/>
                </a:solidFill>
                <a:latin typeface="Heebo"/>
                <a:cs typeface="Heebo"/>
              </a:rPr>
              <a:t>הליבה · בשכר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7999" y="3246120"/>
            <a:ext cx="219456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800" b="1">
                <a:solidFill>
                  <a:srgbClr val="122755"/>
                </a:solidFill>
                <a:latin typeface="Heebo"/>
                <a:cs typeface="Heebo"/>
              </a:rPr>
              <a:t>צוות הכנסת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39" y="3630168"/>
            <a:ext cx="2011680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תמיר דורטל · אדם קורגן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39" y="3877056"/>
            <a:ext cx="2011680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חבר דירקטוריון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39" y="4123944"/>
            <a:ext cx="2011680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נציג רביעי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39" y="4370832"/>
            <a:ext cx="2011680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22755"/>
                </a:solidFill>
                <a:latin typeface="Heebo"/>
                <a:cs typeface="Heebo"/>
              </a:rPr>
              <a:t>+ איש תוכן ותקשורת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63739" y="2112264"/>
            <a:ext cx="1783080" cy="566928"/>
          </a:xfrm>
          <a:prstGeom prst="roundRect">
            <a:avLst>
              <a:gd name="adj" fmla="val 5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63739" y="2148840"/>
            <a:ext cx="178308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צוות מחקר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63739" y="2407066"/>
            <a:ext cx="178308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ניירות עמדה · טמיר שרגא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61019" y="4818888"/>
            <a:ext cx="1783080" cy="566928"/>
          </a:xfrm>
          <a:prstGeom prst="roundRect">
            <a:avLst>
              <a:gd name="adj" fmla="val 5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61019" y="4855464"/>
            <a:ext cx="178308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צוות דיגיטל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61019" y="5113690"/>
            <a:ext cx="178308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הפצה ברשתות · איתמר כהן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66459" y="4818888"/>
            <a:ext cx="1783080" cy="566928"/>
          </a:xfrm>
          <a:prstGeom prst="roundRect">
            <a:avLst>
              <a:gd name="adj" fmla="val 5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66459" y="4855464"/>
            <a:ext cx="178308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צוות אקטיביסטים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66459" y="5113690"/>
            <a:ext cx="178308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מצטרפים לנציג · יהונתן יחזקאל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12279" y="1225296"/>
            <a:ext cx="228600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C3C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12279" y="1261872"/>
            <a:ext cx="228600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הנהלה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2279" y="1520098"/>
            <a:ext cx="228600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מנכ״ל אדם קורגן + עוזר מנכ״ל (לאיוש)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595359" y="5596128"/>
            <a:ext cx="228600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C3C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59" y="5632704"/>
            <a:ext cx="228600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מובילי תחום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59" y="5890930"/>
            <a:ext cx="228600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אודליה · נגה · שלומית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199" y="5596128"/>
            <a:ext cx="228600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C3C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199" y="5632704"/>
            <a:ext cx="228600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יועצים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199" y="5890930"/>
            <a:ext cx="228600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טל קופל · תמר ארבל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1480" y="1325880"/>
            <a:ext cx="3931920" cy="566928"/>
          </a:xfrm>
          <a:prstGeom prst="roundRect">
            <a:avLst>
              <a:gd name="adj" fmla="val 25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1325880"/>
            <a:ext cx="3931920" cy="5669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600" b="1">
                <a:solidFill>
                  <a:srgbClr val="FFFFFF"/>
                </a:solidFill>
                <a:latin typeface="Heebo"/>
                <a:cs typeface="Heebo"/>
              </a:rPr>
              <a:t>בין 3 ל-4 דיונים בשבוע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1480" y="2002536"/>
            <a:ext cx="3931920" cy="566928"/>
          </a:xfrm>
          <a:prstGeom prst="roundRect">
            <a:avLst>
              <a:gd name="adj" fmla="val 25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2002536"/>
            <a:ext cx="3931920" cy="5669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600" b="1">
                <a:solidFill>
                  <a:srgbClr val="FFFFFF"/>
                </a:solidFill>
                <a:latin typeface="Heebo"/>
                <a:cs typeface="Heebo"/>
              </a:rPr>
              <a:t>לפחות 2 ימי כנסת מלאים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11480" y="2788920"/>
            <a:ext cx="393192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D645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886200" y="2916936"/>
            <a:ext cx="310896" cy="310896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794760" y="2916936"/>
            <a:ext cx="493776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!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2880360"/>
            <a:ext cx="3273552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D64545"/>
                </a:solidFill>
                <a:latin typeface="Heebo"/>
                <a:cs typeface="Heebo"/>
              </a:rPr>
              <a:t>נציג קבוע בכל דיון: זה מה שבונה אמינות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3300984"/>
            <a:ext cx="3657600" cy="80467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1A2233"/>
                </a:solidFill>
                <a:latin typeface="Heebo"/>
                <a:cs typeface="Heebo"/>
              </a:rPr>
              <a:t>אקטיביסט יגיע לדיון לבד רק כשאין בשום אופן נציג אחר. מערך שנשען על מתנדבים יקרוס בחיתוליו, גם תדמיתית וגם אופרטיבית.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1480" y="4297680"/>
            <a:ext cx="393192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D645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886200" y="4425696"/>
            <a:ext cx="310896" cy="310896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794760" y="4425696"/>
            <a:ext cx="493776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!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" y="4389120"/>
            <a:ext cx="3273552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D64545"/>
                </a:solidFill>
                <a:latin typeface="Heebo"/>
                <a:cs typeface="Heebo"/>
              </a:rPr>
              <a:t>איש התוכן: חלק מהצוות, לא ספק חיצוני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" y="4809744"/>
            <a:ext cx="3657600" cy="80467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1A2233"/>
                </a:solidFill>
                <a:latin typeface="Heebo"/>
                <a:cs typeface="Heebo"/>
              </a:rPr>
              <a:t>רק מי שלוקח חלק פעיל בסדר היום יכול להפוך כל דיון בכנסת לחשיפה: מהר, מדויק ואמין.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תמיר דורטל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מייסד · כלכלה, רגולציה וביטחון אישי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2011680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2011680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075688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075688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ביטחון אישי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1234440"/>
            <a:ext cx="85340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רפורמת נשק ארוך: לאפשר לאזרחים לרכוש נשק ארוך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392424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707063" y="3483864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094415" y="4169664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2975" y="4169664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4233672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233672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רגולציה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3160" y="3392424"/>
            <a:ext cx="85340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אישור נהיגה אוטונומית של טסלה בישראל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עו״ד אודליה קדמי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ביטחון אישי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2011680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2011680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075688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075688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ביטחון אישי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1234440"/>
            <a:ext cx="85340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הקמת שדולה בכנסת למען האזרח החמוש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392424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707063" y="3483864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094415" y="4169664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2975" y="4169664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4233672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233672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כוחות הביטחון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3160" y="3392424"/>
            <a:ext cx="85340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קידום חוק חסינות למשרתי ומתנדבי כוחות הביטחון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שלומית לביא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רווחה ומשפחה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147309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147309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53710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153710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זכויות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123444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הזכות לייצוג סוציאלי פרטי בהליכי משפט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31526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707063" y="240670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094415" y="255391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2975" y="255391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261792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261792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זכויות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3160" y="231526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הבטחת זכויות אזרח בהליכי משפחה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339608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707063" y="348752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094415" y="363473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002975" y="363473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3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" y="369874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69874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מחקר ומדיניות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23160" y="339608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הקמת מו"פ למשרד הרווחה, לבתי המשפט למשפחה ולבתי הדין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1480" y="447690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707063" y="456834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094415" y="471555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002975" y="471555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4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477956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477956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פיקוח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23160" y="447690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נציבות חיצונית לפיקוח וביקורת על משרד הרווחה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1480" y="555772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1707063" y="564916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1094415" y="579637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002975" y="579637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5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586038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4360" y="586038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פיקוח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423160" y="555772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נציבות לפיקוח וביקורת על בתי המשפט לענייני משפחה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נגה ארבל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חקיקה · ביטחון אישי ולאומי, ריבונות, צה״ל וחינוך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169000" y="1234440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222431" y="1572768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30991" y="1572768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1880" y="1600200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1880" y="1600200"/>
            <a:ext cx="1325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1">
                <a:solidFill>
                  <a:srgbClr val="1C3C7A"/>
                </a:solidFill>
                <a:latin typeface="Heebo"/>
                <a:cs typeface="Heebo"/>
              </a:rPr>
              <a:t>ביטחון אישי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69200" y="1234440"/>
            <a:ext cx="331607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חוק הגנה עצמית: זכות יסוד, בדומה לארה״ב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69000" y="2386584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707063" y="2478024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222431" y="2724912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30991" y="2724912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1880" y="2752344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1880" y="2752344"/>
            <a:ext cx="1325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1">
                <a:solidFill>
                  <a:srgbClr val="1C3C7A"/>
                </a:solidFill>
                <a:latin typeface="Heebo"/>
                <a:cs typeface="Heebo"/>
              </a:rPr>
              <a:t>טכנולוגיה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69200" y="2386584"/>
            <a:ext cx="331607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הגנה ברשת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9000" y="3538728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707063" y="3630168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222431" y="3877056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30991" y="3877056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3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51880" y="3904488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51880" y="3904488"/>
            <a:ext cx="1325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1">
                <a:solidFill>
                  <a:srgbClr val="1C3C7A"/>
                </a:solidFill>
                <a:latin typeface="Heebo"/>
                <a:cs typeface="Heebo"/>
              </a:rPr>
              <a:t>ביטחון לאומי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69200" y="3538728"/>
            <a:ext cx="331607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ביטוח לאומי: איסור על העברת כספים לחו״ל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1481" y="1234440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949544" y="1325880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464912" y="1572768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73472" y="1572768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4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1" y="1600200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1" y="1600200"/>
            <a:ext cx="1325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1">
                <a:solidFill>
                  <a:srgbClr val="1C3C7A"/>
                </a:solidFill>
                <a:latin typeface="Heebo"/>
                <a:cs typeface="Heebo"/>
              </a:rPr>
              <a:t>צה״ל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11681" y="1234440"/>
            <a:ext cx="331607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רוח צה״ל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1481" y="2386584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949544" y="2478024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5464912" y="2724912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373472" y="2724912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5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1" y="2752344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4361" y="2752344"/>
            <a:ext cx="1325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1">
                <a:solidFill>
                  <a:srgbClr val="1C3C7A"/>
                </a:solidFill>
                <a:latin typeface="Heebo"/>
                <a:cs typeface="Heebo"/>
              </a:rPr>
              <a:t>חינוך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011681" y="2386584"/>
            <a:ext cx="331607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מדדים בחינוך: המלצות מדיניות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1481" y="3538728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949544" y="3630168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5464912" y="3877056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373472" y="3877056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6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94361" y="3904488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4361" y="3904488"/>
            <a:ext cx="1325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1">
                <a:solidFill>
                  <a:srgbClr val="1C3C7A"/>
                </a:solidFill>
                <a:latin typeface="Heebo"/>
                <a:cs typeface="Heebo"/>
              </a:rPr>
              <a:t>ריבונות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011681" y="3538728"/>
            <a:ext cx="331607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חוק למניעת כפיפות לאמנות בינלאומיות ללא אישור הכנסת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טל קופל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אתיקה, חינוך והתיישבות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147309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147309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53710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153710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התיישבות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123444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ייהוד הגליל והנגב וגרעיני נח״ל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31526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707063" y="240670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094415" y="255391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2975" y="255391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261792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261792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זהות יהודית בצה״ל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3160" y="231526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קוד אתי חדש וחיל חינוך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339608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707063" y="348752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094415" y="363473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002975" y="363473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3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" y="369874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69874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מילואים וגבורה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23160" y="339608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תגמול המילואים ושדולת הגבורה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1480" y="447690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707063" y="456834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094415" y="471555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002975" y="471555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4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477956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477956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זהות בחינוך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23160" y="447690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חוק חינוך ממלכתי, תנ״ך, היסטוריה וחינוך ביתי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1480" y="555772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1707063" y="564916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1094415" y="579637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002975" y="579637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5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586038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4360" y="586038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אקדמיה ומחקר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423160" y="555772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הפרדת ות״ת מהמל״ג ומוסד מחקר לאומי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פעילות כנסת · שבוע עבודה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112557" y="1143000"/>
            <a:ext cx="3667658" cy="868680"/>
          </a:xfrm>
          <a:prstGeom prst="roundRect">
            <a:avLst>
              <a:gd name="adj" fmla="val 14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12557" y="1234440"/>
            <a:ext cx="3667658" cy="43891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2200" b="1">
                <a:solidFill>
                  <a:srgbClr val="FFFFFF"/>
                </a:solidFill>
                <a:latin typeface="Heebo"/>
                <a:cs typeface="Heebo"/>
              </a:rPr>
              <a:t>בין 3 ל-4 דיונים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12557" y="1691640"/>
            <a:ext cx="3667658" cy="25603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בכל שבוע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62019" y="1143000"/>
            <a:ext cx="3667658" cy="868680"/>
          </a:xfrm>
          <a:prstGeom prst="roundRect">
            <a:avLst>
              <a:gd name="adj" fmla="val 14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62019" y="1234440"/>
            <a:ext cx="3667658" cy="43891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2200" b="1">
                <a:solidFill>
                  <a:srgbClr val="FFFFFF"/>
                </a:solidFill>
                <a:latin typeface="Heebo"/>
                <a:cs typeface="Heebo"/>
              </a:rPr>
              <a:t>לפחות 2 ימי כנסת מלאים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62019" y="1691640"/>
            <a:ext cx="3667658" cy="25603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דיונים, פגישות ושיחות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1" y="1143000"/>
            <a:ext cx="3667658" cy="868680"/>
          </a:xfrm>
          <a:prstGeom prst="roundRect">
            <a:avLst>
              <a:gd name="adj" fmla="val 14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1" y="1234440"/>
            <a:ext cx="3667658" cy="43891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2200" b="1">
                <a:solidFill>
                  <a:srgbClr val="FFFFFF"/>
                </a:solidFill>
                <a:latin typeface="Heebo"/>
                <a:cs typeface="Heebo"/>
              </a:rPr>
              <a:t>בין 400 ל-600 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1" y="1691640"/>
            <a:ext cx="3667658" cy="25603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תגמול ליום כנסת · יום מלא או חצי יום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08881" y="2194560"/>
            <a:ext cx="2171334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8881" y="228600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8A94A8"/>
                </a:solidFill>
                <a:latin typeface="Heebo"/>
                <a:cs typeface="Heebo"/>
              </a:rPr>
              <a:t>ראשון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00321" y="2542032"/>
            <a:ext cx="1988454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C3C7A"/>
                </a:solidFill>
                <a:latin typeface="Heebo"/>
                <a:cs typeface="Heebo"/>
              </a:rPr>
              <a:t>הכנה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00321" y="2944368"/>
            <a:ext cx="1988454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דיון במידה ויש · צוות המחקר מכין ניירות ותדריך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09531" y="2194560"/>
            <a:ext cx="2171334" cy="1188720"/>
          </a:xfrm>
          <a:prstGeom prst="roundRect">
            <a:avLst>
              <a:gd name="adj" fmla="val 1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09531" y="228600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שני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0971" y="2542032"/>
            <a:ext cx="1988454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22755"/>
                </a:solidFill>
                <a:latin typeface="Heebo"/>
                <a:cs typeface="Heebo"/>
              </a:rPr>
              <a:t>דיונים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0971" y="2944368"/>
            <a:ext cx="1988454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בוועדות הכנסת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10181" y="2194560"/>
            <a:ext cx="2171334" cy="1188720"/>
          </a:xfrm>
          <a:prstGeom prst="roundRect">
            <a:avLst>
              <a:gd name="adj" fmla="val 1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10181" y="228600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שלישי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01621" y="2542032"/>
            <a:ext cx="1988454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22755"/>
                </a:solidFill>
                <a:latin typeface="Heebo"/>
                <a:cs typeface="Heebo"/>
              </a:rPr>
              <a:t>דיונים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01621" y="2944368"/>
            <a:ext cx="1988454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בוועדות הכנסת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10831" y="2194560"/>
            <a:ext cx="2171334" cy="1188720"/>
          </a:xfrm>
          <a:prstGeom prst="roundRect">
            <a:avLst>
              <a:gd name="adj" fmla="val 1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10831" y="228600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רביעי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02271" y="2542032"/>
            <a:ext cx="1988454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22755"/>
                </a:solidFill>
                <a:latin typeface="Heebo"/>
                <a:cs typeface="Heebo"/>
              </a:rPr>
              <a:t>דיונים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2271" y="2944368"/>
            <a:ext cx="1988454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בוועדות הכנסת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11481" y="2194560"/>
            <a:ext cx="2171334" cy="1188720"/>
          </a:xfrm>
          <a:prstGeom prst="roundRect">
            <a:avLst>
              <a:gd name="adj" fmla="val 1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1" y="228600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חמישי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1" y="2542032"/>
            <a:ext cx="1988454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22755"/>
                </a:solidFill>
                <a:latin typeface="Heebo"/>
                <a:cs typeface="Heebo"/>
              </a:rPr>
              <a:t>דיונים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1" y="2944368"/>
            <a:ext cx="1988454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בוועדות הכנסת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1481" y="3474720"/>
            <a:ext cx="4470684" cy="566928"/>
          </a:xfrm>
          <a:prstGeom prst="roundRect">
            <a:avLst>
              <a:gd name="adj" fmla="val 18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1" y="3511296"/>
            <a:ext cx="419636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קביעת סדר היום לשבוע הבא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1" y="3767328"/>
            <a:ext cx="4196364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העברה לצוות המחקר ושיבוץ לדיונים · לא יאוחר מחמישי בבוקר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87288" y="4160520"/>
            <a:ext cx="5592927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70168" y="4270248"/>
            <a:ext cx="5227167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C3C7A"/>
                </a:solidFill>
                <a:latin typeface="Heebo"/>
                <a:cs typeface="Heebo"/>
              </a:rPr>
              <a:t>מי הולך לכנסת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359124" y="4709160"/>
            <a:ext cx="1238211" cy="5029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1533327" y="4782312"/>
            <a:ext cx="45720" cy="35661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359124" y="4709160"/>
            <a:ext cx="1238211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029473" y="4709160"/>
            <a:ext cx="1238211" cy="5029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203676" y="4782312"/>
            <a:ext cx="45720" cy="35661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029473" y="4709160"/>
            <a:ext cx="1238211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699822" y="4709160"/>
            <a:ext cx="1238211" cy="5029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874025" y="4782312"/>
            <a:ext cx="45720" cy="35661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99822" y="4709160"/>
            <a:ext cx="1238211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חבר דירקטוריון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70171" y="4709160"/>
            <a:ext cx="1238211" cy="502920"/>
          </a:xfrm>
          <a:prstGeom prst="roundRect">
            <a:avLst>
              <a:gd name="adj" fmla="val 18000"/>
            </a:avLst>
          </a:prstGeom>
          <a:noFill/>
          <a:ln w="15875">
            <a:solidFill>
              <a:srgbClr val="F0C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70171" y="4709160"/>
            <a:ext cx="1238211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C3C7A"/>
                </a:solidFill>
                <a:latin typeface="Heebo"/>
                <a:cs typeface="Heebo"/>
              </a:rPr>
              <a:t>נציג רביעי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70168" y="5349240"/>
            <a:ext cx="5227167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8A94A8"/>
                </a:solidFill>
                <a:latin typeface="Heebo"/>
                <a:cs typeface="Heebo"/>
              </a:rPr>
              <a:t>נציג רביעי: משרה חלקית, או בשילוב עם תפקיד איש התוכן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370168" y="5760720"/>
            <a:ext cx="5227167" cy="640080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61608" y="5760720"/>
            <a:ext cx="5044287" cy="6400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+ אקטיביסטים משלימים חורים ומצטרפים לנציג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11480" y="4160520"/>
            <a:ext cx="5592927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31750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94360" y="4270248"/>
            <a:ext cx="5227167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C3C7A"/>
                </a:solidFill>
                <a:latin typeface="Heebo"/>
                <a:cs typeface="Heebo"/>
              </a:rPr>
              <a:t>איש תוכן ותקשורת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94360" y="4617720"/>
            <a:ext cx="5227167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8A94A8"/>
                </a:solidFill>
                <a:latin typeface="Heebo"/>
                <a:cs typeface="Heebo"/>
              </a:rPr>
              <a:t>משרה חלקית בכח התערבות · אפשר בשילוב עם 'על המשמעות'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0080" y="5074920"/>
            <a:ext cx="5135727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500" b="1">
                <a:solidFill>
                  <a:srgbClr val="1A2233"/>
                </a:solidFill>
                <a:latin typeface="Heebo"/>
                <a:cs typeface="Heebo"/>
              </a:rPr>
              <a:t>• לוקח חלק פעיל בסדר היום של הארגון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0080" y="5623560"/>
            <a:ext cx="5135727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500" b="1">
                <a:solidFill>
                  <a:srgbClr val="1A2233"/>
                </a:solidFill>
                <a:latin typeface="Heebo"/>
                <a:cs typeface="Heebo"/>
              </a:rPr>
              <a:t>• איתו בונים את החשיפה בתקשורת וברשתות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שלב א׳ · שינוי מבני, בלי לגעת בשכר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40680" y="1188720"/>
            <a:ext cx="6339535" cy="384048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23560" y="1188720"/>
            <a:ext cx="3413455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תפקיד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03720" y="1188720"/>
            <a:ext cx="1280160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לחודש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32120" y="1188720"/>
            <a:ext cx="1371600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שינוי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1664208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664208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מנכ״ל · אדם קורגן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03720" y="1664208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10,000 ₪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77840" y="1773936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77840" y="1773936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ללא שינוי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40680" y="2249424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5320" y="2249424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עוזר מנכ״ל · חצי משרה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03720" y="2249424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5,000 ₪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577840" y="2359152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77840" y="2359152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ללא שינוי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2834640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75320" y="2834640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מנהל תוכן · חצי משרה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2834640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5,000 ₪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77840" y="2944368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77840" y="2944368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ללא שינוי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40680" y="3419856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75320" y="3419856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חברי דירקטוריון · 2 דיונים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03720" y="3419856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750 ₪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577840" y="3529584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77840" y="3529584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במקום נציג 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40680" y="4005072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75320" y="4005072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אקטיביסטים · 2 דיונים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03720" y="4005072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בהתנדבות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577840" y="4114800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577840" y="4114800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חדש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40680" y="4590288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75320" y="4590288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תמיר דורטל · 4 דיונים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03720" y="4590288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—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577840" y="4700016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577840" y="4700016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בעלים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11480" y="1188720"/>
            <a:ext cx="4754880" cy="2331720"/>
          </a:xfrm>
          <a:prstGeom prst="roundRect">
            <a:avLst>
              <a:gd name="adj" fmla="val 6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1325880"/>
            <a:ext cx="4754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0">
                <a:solidFill>
                  <a:srgbClr val="F0C000"/>
                </a:solidFill>
                <a:latin typeface="Heebo"/>
                <a:cs typeface="Heebo"/>
              </a:rPr>
              <a:t>עלות חודשית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1480" y="1600200"/>
            <a:ext cx="4754880" cy="7315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4400" b="1">
                <a:solidFill>
                  <a:srgbClr val="FFFFFF"/>
                </a:solidFill>
                <a:latin typeface="Heebo"/>
                <a:cs typeface="Heebo"/>
              </a:rPr>
              <a:t>20,750 ₪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" y="2304288"/>
            <a:ext cx="4754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0">
                <a:solidFill>
                  <a:srgbClr val="FFFFFF"/>
                </a:solidFill>
                <a:latin typeface="Heebo"/>
                <a:cs typeface="Heebo"/>
              </a:rPr>
              <a:t>249,000 ₪ בשנה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94360" y="2697480"/>
            <a:ext cx="4389120" cy="658368"/>
          </a:xfrm>
          <a:prstGeom prst="roundRect">
            <a:avLst>
              <a:gd name="adj" fmla="val 15000"/>
            </a:avLst>
          </a:prstGeom>
          <a:solidFill>
            <a:srgbClr val="2A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94360" y="2715768"/>
            <a:ext cx="438912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FFFFFF"/>
                </a:solidFill>
                <a:latin typeface="Heebo"/>
                <a:cs typeface="Heebo"/>
              </a:rPr>
              <a:t>13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4360" y="3054096"/>
            <a:ext cx="4389120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דיונים בחודש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11480" y="3703320"/>
            <a:ext cx="475488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94360" y="3813048"/>
            <a:ext cx="4389120" cy="5669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מה משתנה בשלב הזה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" y="4434840"/>
            <a:ext cx="4297680" cy="54864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1A2233"/>
                </a:solidFill>
                <a:latin typeface="Heebo"/>
                <a:cs typeface="Heebo"/>
              </a:rPr>
              <a:t>• אין נציג 4: הדיונים מתחלקים בין הצוות, הדירקטוריון והאקטיביסטים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" y="5056632"/>
            <a:ext cx="4297680" cy="54864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1A2233"/>
                </a:solidFill>
                <a:latin typeface="Heebo"/>
                <a:cs typeface="Heebo"/>
              </a:rPr>
              <a:t>• תעריף פתיחה ליום כנסת: 300 ₪ חצי יום · 450 ₪ יום מלא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0080" y="5678424"/>
            <a:ext cx="4297680" cy="54864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1A2233"/>
                </a:solidFill>
                <a:latin typeface="Heebo"/>
                <a:cs typeface="Heebo"/>
              </a:rPr>
              <a:t>• סדר היום לשבוע הבא נסגר עד חמישי בבוקר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שלב ב׳ · שכר מספק למערך מלא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40680" y="1188720"/>
            <a:ext cx="6339535" cy="384048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23560" y="1188720"/>
            <a:ext cx="3413455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תפקיד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03720" y="1188720"/>
            <a:ext cx="1280160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לחודש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32120" y="1188720"/>
            <a:ext cx="1371600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שינוי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1664208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664208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מנכ״ל · אדם קורגן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03720" y="1664208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15,000 ₪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77840" y="1773936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77840" y="1773936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000" b="1">
                <a:solidFill>
                  <a:srgbClr val="122755"/>
                </a:solidFill>
                <a:latin typeface="Heebo"/>
                <a:cs typeface="Heebo"/>
              </a:rPr>
              <a:t>+5,000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40680" y="2249424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5320" y="2249424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עוזר מנכ״ל · חצי משרה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03720" y="2249424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7,000 ₪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577840" y="2359152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77840" y="2359152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000" b="1">
                <a:solidFill>
                  <a:srgbClr val="122755"/>
                </a:solidFill>
                <a:latin typeface="Heebo"/>
                <a:cs typeface="Heebo"/>
              </a:rPr>
              <a:t>+2,000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2834640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75320" y="2834640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מנהל תוכן · חצי משרה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2834640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6,000 ₪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77840" y="2944368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77840" y="2944368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000" b="1">
                <a:solidFill>
                  <a:srgbClr val="122755"/>
                </a:solidFill>
                <a:latin typeface="Heebo"/>
                <a:cs typeface="Heebo"/>
              </a:rPr>
              <a:t>+1,000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40680" y="3419856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75320" y="3419856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נציג 3 · 4 דיונים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03720" y="3419856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1,800 ₪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577840" y="3529584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77840" y="3529584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תעריף מלא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40680" y="4005072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75320" y="4005072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נציג 4 · 4 דיונים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03720" y="4005072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1,800 ₪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577840" y="4114800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577840" y="4114800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חוזר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40680" y="4590288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75320" y="4590288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תמיר דורטל · 4 דיונים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03720" y="4590288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—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577840" y="4700016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577840" y="4700016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בעלים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11480" y="1188720"/>
            <a:ext cx="4754880" cy="2331720"/>
          </a:xfrm>
          <a:prstGeom prst="roundRect">
            <a:avLst>
              <a:gd name="adj" fmla="val 6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1325880"/>
            <a:ext cx="4754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0">
                <a:solidFill>
                  <a:srgbClr val="F0C000"/>
                </a:solidFill>
                <a:latin typeface="Heebo"/>
                <a:cs typeface="Heebo"/>
              </a:rPr>
              <a:t>עלות חודשית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1480" y="1600200"/>
            <a:ext cx="4754880" cy="7315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4400" b="1">
                <a:solidFill>
                  <a:srgbClr val="FFFFFF"/>
                </a:solidFill>
                <a:latin typeface="Heebo"/>
                <a:cs typeface="Heebo"/>
              </a:rPr>
              <a:t>31,600 ₪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" y="2304288"/>
            <a:ext cx="4754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0">
                <a:solidFill>
                  <a:srgbClr val="FFFFFF"/>
                </a:solidFill>
                <a:latin typeface="Heebo"/>
                <a:cs typeface="Heebo"/>
              </a:rPr>
              <a:t>379,200 ₪ בשנה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94360" y="2697480"/>
            <a:ext cx="4389120" cy="658368"/>
          </a:xfrm>
          <a:prstGeom prst="roundRect">
            <a:avLst>
              <a:gd name="adj" fmla="val 15000"/>
            </a:avLst>
          </a:prstGeom>
          <a:solidFill>
            <a:srgbClr val="2A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94360" y="2715768"/>
            <a:ext cx="438912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FFFFFF"/>
                </a:solidFill>
                <a:latin typeface="Heebo"/>
                <a:cs typeface="Heebo"/>
              </a:rPr>
              <a:t>16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4360" y="3054096"/>
            <a:ext cx="4389120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דיונים בחודש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11480" y="3703320"/>
            <a:ext cx="475488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38100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94360" y="3813048"/>
            <a:ext cx="4389120" cy="5669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500" b="1">
                <a:solidFill>
                  <a:srgbClr val="1C3C7A"/>
                </a:solidFill>
                <a:latin typeface="Heebo"/>
                <a:cs typeface="Heebo"/>
              </a:rPr>
              <a:t>שכר מספק הוא השקעה, לא הוצאה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" y="4434840"/>
            <a:ext cx="4297680" cy="54864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• מי שמתפרנס מהתפקיד מתחייב אליו: מגיע לכל דיון, מוכן, ולאורך זמן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" y="5056632"/>
            <a:ext cx="4297680" cy="54864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• פחות תחלופה = פחות חפיפות, ויותר היכרות אישית עם חברי הכנסת והיועצים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0080" y="5678424"/>
            <a:ext cx="4297680" cy="54864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• דיון שחסכנו עליו עולה מעט. דיון שפספסנו עולה בחוק שעבר בלעדינו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הוצאות · שלושה מודלים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143037" y="1188720"/>
            <a:ext cx="3637178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38100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143037" y="1188720"/>
            <a:ext cx="3637178" cy="868680"/>
          </a:xfrm>
          <a:prstGeom prst="roundRect">
            <a:avLst>
              <a:gd name="adj" fmla="val 12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43037" y="1280160"/>
            <a:ext cx="3637178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2000" b="1">
                <a:solidFill>
                  <a:srgbClr val="122755"/>
                </a:solidFill>
                <a:latin typeface="Heebo"/>
                <a:cs typeface="Heebo"/>
              </a:rPr>
              <a:t>מודל אידיאלי התחלתי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34477" y="1664208"/>
            <a:ext cx="3454298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122755"/>
                </a:solidFill>
                <a:latin typeface="Heebo"/>
                <a:cs typeface="Heebo"/>
              </a:rPr>
              <a:t>צוות מלא בשכר מספק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43037" y="2148840"/>
            <a:ext cx="3637178" cy="6400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3600" b="1">
                <a:solidFill>
                  <a:srgbClr val="1C3C7A"/>
                </a:solidFill>
                <a:latin typeface="Heebo"/>
                <a:cs typeface="Heebo"/>
              </a:rPr>
              <a:t>31,600 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43037" y="2743200"/>
            <a:ext cx="3637178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8A94A8"/>
                </a:solidFill>
                <a:latin typeface="Heebo"/>
                <a:cs typeface="Heebo"/>
              </a:rPr>
              <a:t>לחודש · 379,200 ₪ בשנה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25917" y="3108960"/>
            <a:ext cx="3271418" cy="658368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5917" y="3136392"/>
            <a:ext cx="3271418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1C3C7A"/>
                </a:solidFill>
                <a:latin typeface="Heebo"/>
                <a:cs typeface="Heebo"/>
              </a:rPr>
              <a:t>16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5917" y="3474720"/>
            <a:ext cx="3271418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דיונים בחודש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77477" y="393192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0197" y="393192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15,000 ₪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325917" y="427024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9377477" y="429768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עוזר מנכ״ל · חצי משרה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0197" y="429768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7,000 ₪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325917" y="463600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377477" y="466344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מנהל תוכן · חצי משרה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0197" y="466344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6,000 ₪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325917" y="500176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377477" y="502920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נציג 3 · 4 דיונים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80197" y="502920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1,800 ₪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325917" y="536752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9377477" y="539496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נציג 4 · 4 דיונים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80197" y="539496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1,800 ₪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325917" y="573328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325917" y="5806440"/>
            <a:ext cx="3271418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תעריף: 400 ₪ חצי יום · 600 ₪ יום מלא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77259" y="1188720"/>
            <a:ext cx="3637178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277259" y="1188720"/>
            <a:ext cx="3637178" cy="868680"/>
          </a:xfrm>
          <a:prstGeom prst="roundRect">
            <a:avLst>
              <a:gd name="adj" fmla="val 12000"/>
            </a:avLst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77259" y="1280160"/>
            <a:ext cx="3637178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2000" b="1">
                <a:solidFill>
                  <a:srgbClr val="FFFFFF"/>
                </a:solidFill>
                <a:latin typeface="Heebo"/>
                <a:cs typeface="Heebo"/>
              </a:rPr>
              <a:t>מודל ביניים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68699" y="1664208"/>
            <a:ext cx="3454298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בלי נציג 4 · דירקטוריון ואקטיביסטים משלימים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77259" y="2148840"/>
            <a:ext cx="3637178" cy="6400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3600" b="1">
                <a:solidFill>
                  <a:srgbClr val="1C3C7A"/>
                </a:solidFill>
                <a:latin typeface="Heebo"/>
                <a:cs typeface="Heebo"/>
              </a:rPr>
              <a:t>23,050 ₪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77259" y="2743200"/>
            <a:ext cx="3637178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8A94A8"/>
                </a:solidFill>
                <a:latin typeface="Heebo"/>
                <a:cs typeface="Heebo"/>
              </a:rPr>
              <a:t>לחודש · 276,600 ₪ בשנה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460139" y="3108960"/>
            <a:ext cx="3271418" cy="658368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60139" y="3136392"/>
            <a:ext cx="3271418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1C3C7A"/>
                </a:solidFill>
                <a:latin typeface="Heebo"/>
                <a:cs typeface="Heebo"/>
              </a:rPr>
              <a:t>16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60139" y="3474720"/>
            <a:ext cx="3271418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דיונים בחודש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11699" y="393192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14419" y="393192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12,000 ₪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4460139" y="427024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5511699" y="429768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עוזר מנכ״ל · חצי משרה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14419" y="429768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5,000 ₪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4460139" y="463600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5511699" y="466344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מנהל תוכן · חצי משרה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414419" y="466344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5,000 ₪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4460139" y="500176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5511699" y="502920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חברי דירקטוריון · 3 דיונים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414419" y="502920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1,050 ₪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4460139" y="536752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5511699" y="539496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אקטיביסטים · 3 דיונים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414419" y="539496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0">
                <a:solidFill>
                  <a:srgbClr val="8A94A8"/>
                </a:solidFill>
                <a:latin typeface="Heebo"/>
                <a:cs typeface="Heebo"/>
              </a:rPr>
              <a:t>בהתנדבות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4460139" y="573328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4460139" y="5806440"/>
            <a:ext cx="3271418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תעריף: 300 ₪ חצי יום · 450 ₪ יום מלא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11481" y="1188720"/>
            <a:ext cx="3637178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411481" y="1188720"/>
            <a:ext cx="3637178" cy="868680"/>
          </a:xfrm>
          <a:prstGeom prst="roundRect">
            <a:avLst>
              <a:gd name="adj" fmla="val 12000"/>
            </a:avLst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11481" y="1280160"/>
            <a:ext cx="3637178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2000" b="1">
                <a:solidFill>
                  <a:srgbClr val="FFFFFF"/>
                </a:solidFill>
                <a:latin typeface="Heebo"/>
                <a:cs typeface="Heebo"/>
              </a:rPr>
              <a:t>מודל רזה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02921" y="1664208"/>
            <a:ext cx="3454298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מינימום דיונים · איש תוכן משותף עם 'על המשמעות'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11481" y="2148840"/>
            <a:ext cx="3637178" cy="6400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3600" b="1">
                <a:solidFill>
                  <a:srgbClr val="1C3C7A"/>
                </a:solidFill>
                <a:latin typeface="Heebo"/>
                <a:cs typeface="Heebo"/>
              </a:rPr>
              <a:t>18,250 ₪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11481" y="2743200"/>
            <a:ext cx="3637178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8A94A8"/>
                </a:solidFill>
                <a:latin typeface="Heebo"/>
                <a:cs typeface="Heebo"/>
              </a:rPr>
              <a:t>לחודש · 219,000 ₪ בשנה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94361" y="3108960"/>
            <a:ext cx="3271418" cy="658368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94361" y="3136392"/>
            <a:ext cx="3271418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1C3C7A"/>
                </a:solidFill>
                <a:latin typeface="Heebo"/>
                <a:cs typeface="Heebo"/>
              </a:rPr>
              <a:t>13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94361" y="3474720"/>
            <a:ext cx="3271418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דיונים בחודש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645921" y="393192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48641" y="393192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10,000 ₪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594361" y="427024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1645921" y="429768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עוזר מנכ״ל · חצי משרה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8641" y="429768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5,000 ₪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594361" y="463600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1645921" y="466344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מנהל תוכן · משותף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1" y="466344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2,500 ₪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594361" y="500176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1645921" y="502920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חברי דירקטוריון · 2 דיונים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48641" y="502920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750 ₪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594361" y="536752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1645921" y="539496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אקטיביסטים · 2 דיונים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48641" y="539496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0">
                <a:solidFill>
                  <a:srgbClr val="8A94A8"/>
                </a:solidFill>
                <a:latin typeface="Heebo"/>
                <a:cs typeface="Heebo"/>
              </a:rPr>
              <a:t>בהתנדבות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594361" y="573328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594361" y="5806440"/>
            <a:ext cx="3271418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תעריף: 300 ₪ חצי יום · 450 ₪ יום מלא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11480" y="6419088"/>
            <a:ext cx="11368735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כל נותני השירות פרילנסרים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