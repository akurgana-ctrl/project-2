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קיים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162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0764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3664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79686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15708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51730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877527" y="1316736"/>
            <a:ext cx="45720" cy="40233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Rounded Rectangle 36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220559" y="2029968"/>
            <a:ext cx="45720" cy="292608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1087615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162476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0308828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8992893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1162476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0308828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8992893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1162476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308828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8992893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1162476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10308828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992893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1162476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10308828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8992893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1162476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10308828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992893" y="534009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6544303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72929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5976975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466104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72929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5976975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466104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72929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976975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129" name="Connector 128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Rounded Rectangle 129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6544303" y="4773168"/>
            <a:ext cx="45720" cy="23774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29291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Rectangle 138"/>
          <p:cNvSpPr/>
          <p:nvPr/>
        </p:nvSpPr>
        <p:spPr>
          <a:xfrm>
            <a:off x="5976975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TextBox 139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41" name="Rounded Rectangle 140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Rectangle 141"/>
          <p:cNvSpPr/>
          <p:nvPr/>
        </p:nvSpPr>
        <p:spPr>
          <a:xfrm>
            <a:off x="4661040" y="528523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Rectangle 144"/>
          <p:cNvSpPr/>
          <p:nvPr/>
        </p:nvSpPr>
        <p:spPr>
          <a:xfrm>
            <a:off x="729291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ectangle 147"/>
          <p:cNvSpPr/>
          <p:nvPr/>
        </p:nvSpPr>
        <p:spPr>
          <a:xfrm>
            <a:off x="5976975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Rectangle 150"/>
          <p:cNvSpPr/>
          <p:nvPr/>
        </p:nvSpPr>
        <p:spPr>
          <a:xfrm>
            <a:off x="4661040" y="568756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7292910" y="608990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Rounded Rectangle 156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2888706" y="2688336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2961057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Rectangle 165"/>
          <p:cNvSpPr/>
          <p:nvPr/>
        </p:nvSpPr>
        <p:spPr>
          <a:xfrm>
            <a:off x="1663410" y="3328416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Rectangle 169"/>
          <p:cNvSpPr/>
          <p:nvPr/>
        </p:nvSpPr>
        <p:spPr>
          <a:xfrm>
            <a:off x="2961057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Rectangle 173"/>
          <p:cNvSpPr/>
          <p:nvPr/>
        </p:nvSpPr>
        <p:spPr>
          <a:xfrm>
            <a:off x="1663410" y="3730752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1A2233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8A94A8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ectangle 177"/>
          <p:cNvSpPr/>
          <p:nvPr/>
        </p:nvSpPr>
        <p:spPr>
          <a:xfrm>
            <a:off x="2961057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Rectangle 180"/>
          <p:cNvSpPr/>
          <p:nvPr/>
        </p:nvSpPr>
        <p:spPr>
          <a:xfrm>
            <a:off x="1663410" y="4133088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83" name="Rounded Rectangle 18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Rectangle 183"/>
          <p:cNvSpPr/>
          <p:nvPr/>
        </p:nvSpPr>
        <p:spPr>
          <a:xfrm>
            <a:off x="2961057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86" name="Rounded Rectangle 185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Rectangle 186"/>
          <p:cNvSpPr/>
          <p:nvPr/>
        </p:nvSpPr>
        <p:spPr>
          <a:xfrm>
            <a:off x="1663410" y="4535424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TextBox 187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89" name="Rounded Rectangle 188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Rectangle 189"/>
          <p:cNvSpPr/>
          <p:nvPr/>
        </p:nvSpPr>
        <p:spPr>
          <a:xfrm>
            <a:off x="2961057" y="4937760"/>
            <a:ext cx="45720" cy="182880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92" name="Connector 191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3" name="Connector 192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4" name="Connector 193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5" name="Connector 194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6" name="Connector 195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זמינות במבנה הארגוני הקיים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כל אדם צבוע לפי רמת הזמינות שלו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11480" y="987552"/>
            <a:ext cx="1136873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2501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2501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501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מייסד · ראש תחום כלכלה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103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103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103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ביטחון אישי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7060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7060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7060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רפואה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33082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3082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82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חקיקה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69104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69104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טל קופל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9104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חינוך ואתיקה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05126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05126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עו״ד תמר ארבל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5126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משפט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11483" y="1243584"/>
            <a:ext cx="1530052" cy="54864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1483" y="1298448"/>
            <a:ext cx="1530052" cy="28529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3" y="1545336"/>
            <a:ext cx="153005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תחום רווחה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6095847" y="1792224"/>
            <a:ext cx="0" cy="164592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4907127" y="1956816"/>
            <a:ext cx="2377440" cy="438912"/>
          </a:xfrm>
          <a:prstGeom prst="roundRect">
            <a:avLst>
              <a:gd name="adj" fmla="val 18000"/>
            </a:avLst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07127" y="2011680"/>
            <a:ext cx="2377440" cy="22823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907127" y="2198217"/>
            <a:ext cx="2377440" cy="175564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מנכ״ל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722678" y="2843784"/>
            <a:ext cx="4057533" cy="2862072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856272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56272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6272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מחקר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44598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4598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30053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30053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814118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814118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מרדכי קמלמן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44598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44598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יפית בירון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9130053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30053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נתנאל מאמו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814118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814118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ישי זנגן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44598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44598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אלון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130053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30053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ליאור טלמור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7814118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814118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עידן ליפשיץ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044598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44598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ליבנר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9130053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130053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מיכאל פסין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7814118" y="446227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7814118" y="446227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הדר שטרול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044598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044598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9130053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9130053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אסתר הורוביץ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814118" y="4864608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814118" y="4864608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מנחם ברעם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044598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4598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לנגלב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9130053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130053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רוזנסקי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814118" y="526694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814118" y="526694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חגי כהן קלונימוס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3390825" y="2843784"/>
            <a:ext cx="4057533" cy="165506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ounded Rectangle 74"/>
          <p:cNvSpPr/>
          <p:nvPr/>
        </p:nvSpPr>
        <p:spPr>
          <a:xfrm>
            <a:off x="4230871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230871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יחזקאל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230871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· צוות אקטיביסטים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611413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11413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רוני מרטין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798200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798200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בנימין שיפרין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482265" y="3255264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482265" y="3255264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611413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11413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שוורצמן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798200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4798200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צופיה צדוק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482265" y="365760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482265" y="365760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יצחק פינק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6114135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114135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דובי ג'ייקובס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798200" y="405993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4798200" y="405993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סתיו רוט</a:t>
            </a:r>
          </a:p>
        </p:txBody>
      </p:sp>
      <p:cxnSp>
        <p:nvCxnSpPr>
          <p:cNvPr id="94" name="Connector 93"/>
          <p:cNvCxnSpPr/>
          <p:nvPr/>
        </p:nvCxnSpPr>
        <p:spPr>
          <a:xfrm>
            <a:off x="5419591" y="4498848"/>
            <a:ext cx="0" cy="20116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5" name="Rounded Rectangle 94"/>
          <p:cNvSpPr/>
          <p:nvPr/>
        </p:nvSpPr>
        <p:spPr>
          <a:xfrm>
            <a:off x="3390825" y="4892040"/>
            <a:ext cx="4057533" cy="1563624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ounded Rectangle 95"/>
          <p:cNvSpPr/>
          <p:nvPr/>
        </p:nvSpPr>
        <p:spPr>
          <a:xfrm>
            <a:off x="4230871" y="4700016"/>
            <a:ext cx="2377440" cy="384048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230871" y="4754880"/>
            <a:ext cx="2377440" cy="19970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יהונתן אמתי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230871" y="4911242"/>
            <a:ext cx="2377440" cy="153619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רכז נוער · קבוצת נוער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11413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611413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אביתר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4798200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798200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אשל לוין</a:t>
            </a:r>
          </a:p>
        </p:txBody>
      </p:sp>
      <p:sp>
        <p:nvSpPr>
          <p:cNvPr id="103" name="Rounded Rectangle 102"/>
          <p:cNvSpPr/>
          <p:nvPr/>
        </p:nvSpPr>
        <p:spPr>
          <a:xfrm>
            <a:off x="3482265" y="5212080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3482265" y="5212080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יאיר שיוביץ'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611413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11413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יובל גרינברגר</a:t>
            </a:r>
          </a:p>
        </p:txBody>
      </p:sp>
      <p:sp>
        <p:nvSpPr>
          <p:cNvPr id="107" name="Rounded Rectangle 106"/>
          <p:cNvSpPr/>
          <p:nvPr/>
        </p:nvSpPr>
        <p:spPr>
          <a:xfrm>
            <a:off x="4798200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798200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3482265" y="5614416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3482265" y="5614416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הורוביץ</a:t>
            </a:r>
          </a:p>
        </p:txBody>
      </p:sp>
      <p:sp>
        <p:nvSpPr>
          <p:cNvPr id="111" name="Rounded Rectangle 110"/>
          <p:cNvSpPr/>
          <p:nvPr/>
        </p:nvSpPr>
        <p:spPr>
          <a:xfrm>
            <a:off x="6114135" y="6016752"/>
            <a:ext cx="1242783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14135" y="6016752"/>
            <a:ext cx="1242783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שני קולברש</a:t>
            </a:r>
          </a:p>
        </p:txBody>
      </p:sp>
      <p:sp>
        <p:nvSpPr>
          <p:cNvPr id="113" name="Rounded Rectangle 112"/>
          <p:cNvSpPr/>
          <p:nvPr/>
        </p:nvSpPr>
        <p:spPr>
          <a:xfrm>
            <a:off x="411483" y="2843784"/>
            <a:ext cx="2705022" cy="2459736"/>
          </a:xfrm>
          <a:prstGeom prst="roundRect">
            <a:avLst>
              <a:gd name="adj" fmla="val 4000"/>
            </a:avLst>
          </a:prstGeom>
          <a:noFill/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ounded Rectangle 113"/>
          <p:cNvSpPr/>
          <p:nvPr/>
        </p:nvSpPr>
        <p:spPr>
          <a:xfrm>
            <a:off x="575274" y="2615184"/>
            <a:ext cx="2377440" cy="457200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75274" y="2670048"/>
            <a:ext cx="2377440" cy="237744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FFFFFF"/>
                </a:solidFill>
                <a:latin typeface="Heebo"/>
                <a:cs typeface="Heebo"/>
              </a:rPr>
              <a:t>איתמר כהן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75274" y="2866644"/>
            <a:ext cx="2377440" cy="182880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FFFFFF"/>
                </a:solidFill>
                <a:latin typeface="Heebo"/>
                <a:cs typeface="Heebo"/>
              </a:rPr>
              <a:t>ראש צוות (טוויטר) · צוות דיגיטל</a:t>
            </a:r>
          </a:p>
        </p:txBody>
      </p:sp>
      <p:sp>
        <p:nvSpPr>
          <p:cNvPr id="117" name="Rounded Rectangle 116"/>
          <p:cNvSpPr/>
          <p:nvPr/>
        </p:nvSpPr>
        <p:spPr>
          <a:xfrm>
            <a:off x="1800570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1800570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אלטר כהן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800570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(אינסטגרם)</a:t>
            </a:r>
          </a:p>
        </p:txBody>
      </p:sp>
      <p:sp>
        <p:nvSpPr>
          <p:cNvPr id="120" name="Rounded Rectangle 119"/>
          <p:cNvSpPr/>
          <p:nvPr/>
        </p:nvSpPr>
        <p:spPr>
          <a:xfrm>
            <a:off x="502923" y="3255264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502923" y="3255264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ישראל ציג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502923" y="3446190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(פייסבוק)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1800570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1800570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מנחם זיבוטפסקי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1800570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(יוטיוב)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502923" y="3657600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02923" y="3657600"/>
            <a:ext cx="1224495" cy="197510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000" b="1">
                <a:solidFill>
                  <a:srgbClr val="FFFFFF"/>
                </a:solidFill>
                <a:latin typeface="Heebo"/>
                <a:cs typeface="Heebo"/>
              </a:rPr>
              <a:t>יהודה חדאד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502923" y="3848526"/>
            <a:ext cx="1224495" cy="131673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800" b="0">
                <a:solidFill>
                  <a:srgbClr val="FFFFFF"/>
                </a:solidFill>
                <a:latin typeface="Heebo"/>
                <a:cs typeface="Heebo"/>
              </a:rPr>
              <a:t>(אתר)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1800570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1800570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</a:t>
            </a:r>
          </a:p>
        </p:txBody>
      </p:sp>
      <p:sp>
        <p:nvSpPr>
          <p:cNvPr id="131" name="Rounded Rectangle 130"/>
          <p:cNvSpPr/>
          <p:nvPr/>
        </p:nvSpPr>
        <p:spPr>
          <a:xfrm>
            <a:off x="502923" y="4059936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02923" y="4059936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יהודה הנדלר</a:t>
            </a:r>
          </a:p>
        </p:txBody>
      </p:sp>
      <p:sp>
        <p:nvSpPr>
          <p:cNvPr id="133" name="Rounded Rectangle 132"/>
          <p:cNvSpPr/>
          <p:nvPr/>
        </p:nvSpPr>
        <p:spPr>
          <a:xfrm>
            <a:off x="1800570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1800570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יואב קוסטינר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502923" y="4462272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02923" y="4462272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יוסף גוטויליג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1800570" y="4864608"/>
            <a:ext cx="1224495" cy="329184"/>
          </a:xfrm>
          <a:prstGeom prst="roundRect">
            <a:avLst>
              <a:gd name="adj" fmla="val 18000"/>
            </a:avLst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1800570" y="4864608"/>
            <a:ext cx="1224495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FFFFFF"/>
                </a:solidFill>
                <a:latin typeface="Heebo"/>
                <a:cs typeface="Heebo"/>
              </a:rPr>
              <a:t>משה הלר</a:t>
            </a:r>
          </a:p>
        </p:txBody>
      </p:sp>
      <p:cxnSp>
        <p:nvCxnSpPr>
          <p:cNvPr id="139" name="Connector 138"/>
          <p:cNvCxnSpPr/>
          <p:nvPr/>
        </p:nvCxnSpPr>
        <p:spPr>
          <a:xfrm>
            <a:off x="6095847" y="2395728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0" name="Connector 139"/>
          <p:cNvCxnSpPr/>
          <p:nvPr/>
        </p:nvCxnSpPr>
        <p:spPr>
          <a:xfrm>
            <a:off x="1763994" y="2505456"/>
            <a:ext cx="7987450" cy="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1" name="Connector 140"/>
          <p:cNvCxnSpPr/>
          <p:nvPr/>
        </p:nvCxnSpPr>
        <p:spPr>
          <a:xfrm>
            <a:off x="975144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2" name="Connector 141"/>
          <p:cNvCxnSpPr/>
          <p:nvPr/>
        </p:nvCxnSpPr>
        <p:spPr>
          <a:xfrm>
            <a:off x="5419591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3" name="Connector 142"/>
          <p:cNvCxnSpPr/>
          <p:nvPr/>
        </p:nvCxnSpPr>
        <p:spPr>
          <a:xfrm>
            <a:off x="1763994" y="2505456"/>
            <a:ext cx="0" cy="109728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Oval 143"/>
          <p:cNvSpPr/>
          <p:nvPr/>
        </p:nvSpPr>
        <p:spPr>
          <a:xfrm>
            <a:off x="6565392" y="374904"/>
            <a:ext cx="146304" cy="146304"/>
          </a:xfrm>
          <a:prstGeom prst="ellipse">
            <a:avLst/>
          </a:prstGeom>
          <a:solidFill>
            <a:srgbClr val="2E9E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544068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גבוהה</a:t>
            </a:r>
          </a:p>
        </p:txBody>
      </p:sp>
      <p:sp>
        <p:nvSpPr>
          <p:cNvPr id="146" name="Oval 145"/>
          <p:cNvSpPr/>
          <p:nvPr/>
        </p:nvSpPr>
        <p:spPr>
          <a:xfrm>
            <a:off x="5239512" y="374904"/>
            <a:ext cx="146304" cy="146304"/>
          </a:xfrm>
          <a:prstGeom prst="ellipse">
            <a:avLst/>
          </a:prstGeom>
          <a:solidFill>
            <a:srgbClr val="E88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411480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בינונית</a:t>
            </a:r>
          </a:p>
        </p:txBody>
      </p:sp>
      <p:sp>
        <p:nvSpPr>
          <p:cNvPr id="148" name="Oval 147"/>
          <p:cNvSpPr/>
          <p:nvPr/>
        </p:nvSpPr>
        <p:spPr>
          <a:xfrm>
            <a:off x="3913632" y="374904"/>
            <a:ext cx="146304" cy="146304"/>
          </a:xfrm>
          <a:prstGeom prst="ellipse">
            <a:avLst/>
          </a:prstGeom>
          <a:solidFill>
            <a:srgbClr val="D645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278892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זמינות נמוכה</a:t>
            </a:r>
          </a:p>
        </p:txBody>
      </p:sp>
      <p:sp>
        <p:nvSpPr>
          <p:cNvPr id="150" name="Oval 149"/>
          <p:cNvSpPr/>
          <p:nvPr/>
        </p:nvSpPr>
        <p:spPr>
          <a:xfrm>
            <a:off x="2587752" y="374904"/>
            <a:ext cx="146304" cy="146304"/>
          </a:xfrm>
          <a:prstGeom prst="ellipse">
            <a:avLst/>
          </a:prstGeom>
          <a:solidFill>
            <a:srgbClr val="B4BCC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1463040" y="301752"/>
            <a:ext cx="1069848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000" b="0">
                <a:solidFill>
                  <a:srgbClr val="FFFFFF"/>
                </a:solidFill>
                <a:latin typeface="Heebo"/>
                <a:cs typeface="Heebo"/>
              </a:rPr>
              <a:t>טרם הוזן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5486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0972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2600" b="1">
                <a:solidFill>
                  <a:srgbClr val="FFFFFF"/>
                </a:solidFill>
                <a:latin typeface="Heebo"/>
                <a:cs typeface="Heebo"/>
              </a:rPr>
              <a:t>מבנה ארגוני מוצע · עבודת הכנסת ה-26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30352"/>
            <a:ext cx="1051560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0">
                <a:solidFill>
                  <a:srgbClr val="F0C000"/>
                </a:solidFill>
                <a:latin typeface="Heebo"/>
                <a:cs typeface="Heebo"/>
              </a:rPr>
              <a:t>צוות קבוע בשכר בליבה, וכל השאר מזינים אותו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" y="54864"/>
            <a:ext cx="910550" cy="768096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3152"/>
            <a:ext cx="800822" cy="7315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063240" y="1005840"/>
            <a:ext cx="8716975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דירקטוריון מצומצם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124603" y="1280160"/>
            <a:ext cx="165561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716207" y="1353312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124603" y="1280160"/>
            <a:ext cx="1655612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59263" y="1280160"/>
            <a:ext cx="165561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9950867" y="1353312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9263" y="1280160"/>
            <a:ext cx="1655612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עו״ד אודליה קדמי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93923" y="1280160"/>
            <a:ext cx="165561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185527" y="1353312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93923" y="1280160"/>
            <a:ext cx="1655612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828583" y="1280160"/>
            <a:ext cx="165561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20187" y="1353312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28583" y="1280160"/>
            <a:ext cx="1655612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נגה ארבל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063243" y="1280160"/>
            <a:ext cx="1655612" cy="457200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54847" y="1353312"/>
            <a:ext cx="45720" cy="310896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63243" y="1280160"/>
            <a:ext cx="1655612" cy="45720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שלומית לביא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11480" y="1078992"/>
            <a:ext cx="2423160" cy="676656"/>
          </a:xfrm>
          <a:prstGeom prst="roundRect">
            <a:avLst>
              <a:gd name="adj" fmla="val 10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84632" y="969264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84632" y="969264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1480" y="1097280"/>
            <a:ext cx="2313432" cy="23774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יועצים מקצועיים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1325880"/>
            <a:ext cx="2313432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טל קופל · עו״ד תמר ארבל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" y="1527048"/>
            <a:ext cx="2313432" cy="20116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מצטרפים לדיונים בתחומם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7010247" y="1737360"/>
            <a:ext cx="0" cy="365760"/>
          </a:xfrm>
          <a:prstGeom prst="line">
            <a:avLst/>
          </a:prstGeom>
          <a:ln w="19050">
            <a:solidFill>
              <a:srgbClr val="C5CDDD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3429000" y="2103120"/>
            <a:ext cx="5330952" cy="2057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31750">
            <a:solidFill>
              <a:srgbClr val="F0C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538728" y="1993392"/>
            <a:ext cx="502920" cy="219456"/>
          </a:xfrm>
          <a:prstGeom prst="roundRect">
            <a:avLst>
              <a:gd name="adj" fmla="val 5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8728" y="1993392"/>
            <a:ext cx="502920" cy="219456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900" b="1">
                <a:solidFill>
                  <a:srgbClr val="122755"/>
                </a:solidFill>
                <a:latin typeface="Heebo"/>
                <a:cs typeface="Heebo"/>
              </a:rPr>
              <a:t>חדש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429000" y="2194560"/>
            <a:ext cx="5330952" cy="329184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700" b="1">
                <a:solidFill>
                  <a:srgbClr val="1C3C7A"/>
                </a:solidFill>
                <a:latin typeface="Heebo"/>
                <a:cs typeface="Heebo"/>
              </a:rPr>
              <a:t>צוות הכנסת · קבוע ובשכר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44093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55878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4093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תמיר דורטל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4093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14934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26719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4934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אדם קורגן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14934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857750" y="2651760"/>
            <a:ext cx="1181862" cy="566928"/>
          </a:xfrm>
          <a:prstGeom prst="roundRect">
            <a:avLst>
              <a:gd name="adj" fmla="val 1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975604" y="2724912"/>
            <a:ext cx="45720" cy="420624"/>
          </a:xfrm>
          <a:prstGeom prst="rect">
            <a:avLst/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857750" y="2706624"/>
            <a:ext cx="1181862" cy="294802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A2233"/>
                </a:solidFill>
                <a:latin typeface="Heebo"/>
                <a:cs typeface="Heebo"/>
              </a:rPr>
              <a:t>ד״ר אמיר רובין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857750" y="2963570"/>
            <a:ext cx="1181862" cy="226771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נציג קבוע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566160" y="2651760"/>
            <a:ext cx="1181862" cy="566928"/>
          </a:xfrm>
          <a:prstGeom prst="roundRect">
            <a:avLst>
              <a:gd name="adj" fmla="val 18000"/>
            </a:avLst>
          </a:prstGeom>
          <a:noFill/>
          <a:ln w="15875">
            <a:solidFill>
              <a:srgbClr val="F0C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566160" y="2688336"/>
            <a:ext cx="1181862" cy="292608"/>
          </a:xfrm>
          <a:prstGeom prst="rect">
            <a:avLst/>
          </a:prstGeom>
          <a:noFill/>
        </p:spPr>
        <p:txBody>
          <a:bodyPr wrap="square" anchor="b" lIns="36576" rIns="36576" tIns="0" bIns="0">
            <a:spAutoFit/>
          </a:bodyPr>
          <a:lstStyle/>
          <a:p>
            <a:pPr algn="ctr" rtl="1"/>
            <a:r>
              <a:rPr sz="1200" b="1">
                <a:solidFill>
                  <a:srgbClr val="1C3C7A"/>
                </a:solidFill>
                <a:latin typeface="Heebo"/>
                <a:cs typeface="Heebo"/>
              </a:rPr>
              <a:t>נציג רביעי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66160" y="2980944"/>
            <a:ext cx="1181862" cy="219456"/>
          </a:xfrm>
          <a:prstGeom prst="rect">
            <a:avLst/>
          </a:prstGeom>
          <a:noFill/>
        </p:spPr>
        <p:txBody>
          <a:bodyPr wrap="square" anchor="t" lIns="36576" rIns="36576" tIns="0" bIns="0">
            <a:spAutoFit/>
          </a:bodyPr>
          <a:lstStyle/>
          <a:p>
            <a:pPr algn="ctr" rtl="1"/>
            <a:r>
              <a:rPr sz="900" b="0">
                <a:solidFill>
                  <a:srgbClr val="8A94A8"/>
                </a:solidFill>
                <a:latin typeface="Heebo"/>
                <a:cs typeface="Heebo"/>
              </a:rPr>
              <a:t>לגיוס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01040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01040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בין 3 ל-4 דיונים בשבוע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8828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8828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2 ימי כנסת מלאים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566160" y="3429000"/>
            <a:ext cx="1612392" cy="548640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566160" y="3429000"/>
            <a:ext cx="1612392" cy="54864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FFFFFF"/>
                </a:solidFill>
                <a:latin typeface="Heebo"/>
                <a:cs typeface="Heebo"/>
              </a:rPr>
              <a:t>4 משרות בשכר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9079992" y="2103120"/>
            <a:ext cx="2700223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9079992" y="2103120"/>
            <a:ext cx="2700223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079992" y="2103120"/>
            <a:ext cx="2700223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צוות מחקר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79992" y="2560320"/>
            <a:ext cx="270022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טמיר שרגא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217152" y="288036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ניירות עמדה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217152" y="3154680"/>
            <a:ext cx="2425903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הכנת הנציג לכל דיון</a:t>
            </a:r>
          </a:p>
        </p:txBody>
      </p:sp>
      <p:cxnSp>
        <p:nvCxnSpPr>
          <p:cNvPr id="62" name="Connector 61"/>
          <p:cNvCxnSpPr/>
          <p:nvPr/>
        </p:nvCxnSpPr>
        <p:spPr>
          <a:xfrm flipH="1">
            <a:off x="8759952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Rounded Rectangle 62"/>
          <p:cNvSpPr/>
          <p:nvPr/>
        </p:nvSpPr>
        <p:spPr>
          <a:xfrm>
            <a:off x="411480" y="2103120"/>
            <a:ext cx="2697480" cy="16002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411480" y="2103120"/>
            <a:ext cx="2697480" cy="384048"/>
          </a:xfrm>
          <a:prstGeom prst="roundRect">
            <a:avLst>
              <a:gd name="adj" fmla="val 20000"/>
            </a:avLst>
          </a:prstGeom>
          <a:solidFill>
            <a:srgbClr val="1C3C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2103120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400" b="1">
                <a:solidFill>
                  <a:srgbClr val="FFFFFF"/>
                </a:solidFill>
                <a:latin typeface="Heebo"/>
                <a:cs typeface="Heebo"/>
              </a:rPr>
              <a:t>אקטיביסטים ונוער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11480" y="2560320"/>
            <a:ext cx="269748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1">
                <a:solidFill>
                  <a:srgbClr val="1A2233"/>
                </a:solidFill>
                <a:latin typeface="Heebo"/>
                <a:cs typeface="Heebo"/>
              </a:rPr>
              <a:t>יהונתן יחזקאל · יהונתן אמתי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288036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השלמת נוכחות בדיונים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48640" y="3154680"/>
            <a:ext cx="24231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• הצטרפות לנציג בוועדה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3108960" y="2903220"/>
            <a:ext cx="320040" cy="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>
            <a:off x="6094476" y="4160520"/>
            <a:ext cx="0" cy="365760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Rounded Rectangle 70"/>
          <p:cNvSpPr/>
          <p:nvPr/>
        </p:nvSpPr>
        <p:spPr>
          <a:xfrm>
            <a:off x="3429000" y="4526280"/>
            <a:ext cx="5330952" cy="566928"/>
          </a:xfrm>
          <a:prstGeom prst="roundRect">
            <a:avLst>
              <a:gd name="adj" fmla="val 20000"/>
            </a:avLst>
          </a:prstGeom>
          <a:solidFill>
            <a:srgbClr val="F0C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429000" y="4526280"/>
            <a:ext cx="5330952" cy="56692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600" b="1">
                <a:solidFill>
                  <a:srgbClr val="122755"/>
                </a:solidFill>
                <a:latin typeface="Heebo"/>
                <a:cs typeface="Heebo"/>
              </a:rPr>
              <a:t>דיונים בוועדות הכנסת · פגישות עם חברי כנסת</a:t>
            </a:r>
          </a:p>
        </p:txBody>
      </p:sp>
      <p:cxnSp>
        <p:nvCxnSpPr>
          <p:cNvPr id="73" name="Connector 72"/>
          <p:cNvCxnSpPr/>
          <p:nvPr/>
        </p:nvCxnSpPr>
        <p:spPr>
          <a:xfrm>
            <a:off x="6094476" y="5093208"/>
            <a:ext cx="0" cy="256032"/>
          </a:xfrm>
          <a:prstGeom prst="line">
            <a:avLst/>
          </a:prstGeom>
          <a:ln w="25400">
            <a:solidFill>
              <a:srgbClr val="1C3C7A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Rounded Rectangle 73"/>
          <p:cNvSpPr/>
          <p:nvPr/>
        </p:nvSpPr>
        <p:spPr>
          <a:xfrm>
            <a:off x="4539996" y="5349240"/>
            <a:ext cx="310896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C5CDD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539996" y="5422392"/>
            <a:ext cx="3108960" cy="292608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300" b="1">
                <a:solidFill>
                  <a:srgbClr val="1C3C7A"/>
                </a:solidFill>
                <a:latin typeface="Heebo"/>
                <a:cs typeface="Heebo"/>
              </a:rPr>
              <a:t>צוות דיגיטל · איתמר כהן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539996" y="5760720"/>
            <a:ext cx="3108960" cy="274320"/>
          </a:xfrm>
          <a:prstGeom prst="rect">
            <a:avLst/>
          </a:prstGeom>
          <a:noFill/>
        </p:spPr>
        <p:txBody>
          <a:bodyPr wrap="square" anchor="ctr" lIns="36576" rIns="36576" tIns="0" bIns="0">
            <a:spAutoFit/>
          </a:bodyPr>
          <a:lstStyle/>
          <a:p>
            <a:pPr algn="ctr" rtl="1"/>
            <a:r>
              <a:rPr sz="1100" b="0">
                <a:solidFill>
                  <a:srgbClr val="1A2233"/>
                </a:solidFill>
                <a:latin typeface="Heebo"/>
                <a:cs typeface="Heebo"/>
              </a:rPr>
              <a:t>הבאת הדיונים לציבור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