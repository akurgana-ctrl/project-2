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2356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49</a:t>
            </a:r>
            <a:r>
              <a:rPr sz="1300">
                <a:solidFill>
                  <a:srgbClr val="FFFFFF"/>
                </a:solidFill>
                <a:latin typeface="Heebo"/>
              </a:rPr>
              <a:t> אנשים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201168"/>
            <a:ext cx="13258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200" b="1">
                <a:solidFill>
                  <a:srgbClr val="F0C000"/>
                </a:solidFill>
                <a:latin typeface="Heebo"/>
                <a:cs typeface="Heebo"/>
              </a:rPr>
              <a:t>4</a:t>
            </a:r>
            <a:r>
              <a:rPr sz="1300">
                <a:solidFill>
                  <a:srgbClr val="FFFFFF"/>
                </a:solidFill>
                <a:latin typeface="Heebo"/>
              </a:rPr>
              <a:t> צוותים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Rounded Rectangle 95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5B6475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5B6475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6E9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5B6475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A0A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4A5568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2 ·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32 ·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15 · נמוכה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166359" y="1097280"/>
            <a:ext cx="5577840" cy="5577840"/>
          </a:xfrm>
          <a:prstGeom prst="ellipse">
            <a:avLst/>
          </a:prstGeom>
          <a:solidFill>
            <a:srgbClr val="EEF1F7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035039" y="1965960"/>
            <a:ext cx="3840480" cy="3840480"/>
          </a:xfrm>
          <a:prstGeom prst="ellipse">
            <a:avLst/>
          </a:prstGeom>
          <a:solidFill>
            <a:srgbClr val="D9E1F0"/>
          </a:solidFill>
          <a:ln w="19050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7999" y="2788920"/>
            <a:ext cx="2194560" cy="2194560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7999" y="3044952"/>
            <a:ext cx="219456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הליבה · בשכר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3246120"/>
            <a:ext cx="219456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800" b="1">
                <a:solidFill>
                  <a:srgbClr val="122755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39" y="3630168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תמיר דורטל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39" y="3877056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אמיר רובין /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4123944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39" y="4370832"/>
            <a:ext cx="2011680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22755"/>
                </a:solidFill>
                <a:latin typeface="Heebo"/>
                <a:cs typeface="Heebo"/>
              </a:rPr>
              <a:t>+ איש תוכן ותקשורת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63739" y="2112264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63739" y="2148840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63739" y="2407066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ניירות עמדה · טמיר שרגא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6101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6101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דיגיטל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6101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הפצה ברשתות · איתמר כהן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66459" y="4818888"/>
            <a:ext cx="1783080" cy="566928"/>
          </a:xfrm>
          <a:prstGeom prst="roundRect">
            <a:avLst>
              <a:gd name="adj" fmla="val 5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66459" y="4855464"/>
            <a:ext cx="178308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66459" y="5113690"/>
            <a:ext cx="178308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מצטרפים לנציג · יהונתן יחזקאל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12279" y="1225296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79" y="1261872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הנהלה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79" y="1520098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מנכ״ל אדם קורגן + עוזר מנכ״ל (לאיוש)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9535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5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5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אודליה · נגה · שלומית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199" y="5596128"/>
            <a:ext cx="228600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C3C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199" y="5632704"/>
            <a:ext cx="2286000" cy="28346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199" y="5890930"/>
            <a:ext cx="2286000" cy="23810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טל קופל · תמר ארבל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1325880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1325880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2002536"/>
            <a:ext cx="3931920" cy="566928"/>
          </a:xfrm>
          <a:prstGeom prst="roundRect">
            <a:avLst>
              <a:gd name="adj" fmla="val 2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2002536"/>
            <a:ext cx="39319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278892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886200" y="291693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94760" y="291693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288036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נציג קבוע בכל דיון: זה מה שבונה אמינות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330098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אקטיביסט יגיע לדיון לבד רק כשאין בשום אופן נציג אחר. מערך שנשען על מתנדבים יקרוס בחיתוליו, גם תדמיתית וגם אופרטיבית.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297680"/>
            <a:ext cx="393192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64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886200" y="4425696"/>
            <a:ext cx="310896" cy="310896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425696"/>
            <a:ext cx="493776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!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4389120"/>
            <a:ext cx="3273552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D64545"/>
                </a:solidFill>
                <a:latin typeface="Heebo"/>
                <a:cs typeface="Heebo"/>
              </a:rPr>
              <a:t>איש התוכן: חלק מהצוות, לא ספק חיצוני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4809744"/>
            <a:ext cx="3657600" cy="8046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רק מי שיושב בסדר היום מבפנים יכול להפוך כל דיון בכנסת לחשיפה: מהר, מדויק ואמין.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תמיר דורטל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מייסד · כלכלה, רגולציה וביטחון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רפורמת נשק ארוך: לאפשר לאזרחים לרכוש נשק ארוך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רגולציה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אישור נהיגה אוטונומית של טסלה בישראל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עו״ד אודליה קדמי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2011680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2011680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07568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75688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הקמת שדולה בכנסת למען האזרח החמוש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392424"/>
            <a:ext cx="11368735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3483864"/>
            <a:ext cx="54864" cy="182880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4169664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4169664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3367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233672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כוחות הביטחון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3392424"/>
            <a:ext cx="8534095" cy="2011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400" b="1">
                <a:solidFill>
                  <a:srgbClr val="1A2233"/>
                </a:solidFill>
                <a:latin typeface="Heebo"/>
                <a:cs typeface="Heebo"/>
              </a:rPr>
              <a:t>קידום חוק חסינות למשרתי ומתנדבי כוחות הביטחון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שלומית לביא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רווחה ומשפחה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הזכות לייצוג סוציאלי פרטי בהליכי משפט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זכויות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הבטחת זכויות אזרח בהליכי משפחה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מחקר ומדיניות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הקמת מו"פ למשרד הרווחה, לבתי המשפט למשפחה ולבתי הדין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חיצונית לפיקוח וביקורת על משרד הרווחה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נציבות לפיקוח וביקורת על בתי המשפט לענייני משפחה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נגה ארבל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חקיקה · ביטחון אישי, ריבונות, צה״ל וחינוך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169000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222431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30991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1880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80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69200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הגנה עצמית: זכות יסוד, בדומה לארה״ב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9000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222431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30991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1880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1880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טכנולוגיה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69200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הגנה ברשת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9000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222431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0991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51880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80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9200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ביטוח לאומי: איסור על העברת כספים לחו״ל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1" y="1234440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9544" y="1325880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64912" y="1572768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73472" y="1572768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1" y="1600200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1" y="1600200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צה״ל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11681" y="1234440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רוח צה״ל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2386584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949544" y="2478024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464912" y="2724912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73472" y="2724912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1" y="2752344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1" y="2752344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11681" y="2386584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מדדים בחינוך: המלצות מדיניות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1" y="3538728"/>
            <a:ext cx="5611215" cy="10058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49544" y="3630168"/>
            <a:ext cx="54864" cy="82296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64912" y="3877056"/>
            <a:ext cx="329184" cy="329184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73472" y="3877056"/>
            <a:ext cx="512064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4361" y="390448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1" y="3904488"/>
            <a:ext cx="1325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C3C7A"/>
                </a:solidFill>
                <a:latin typeface="Heebo"/>
                <a:cs typeface="Heebo"/>
              </a:rPr>
              <a:t>ריבונות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11681" y="3538728"/>
            <a:ext cx="3316071" cy="10058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חוק למניעת כפיפות לאמנות בינלאומיות ללא אישור הכנסת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תוכניות כנסת 26 · טל קופל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23444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7063" y="132588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94415" y="147309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2975" y="147309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53710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153710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23444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ייהוד הגליל והנגב וגרעיני נח״ל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31526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707063" y="240670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094415" y="255391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2975" y="255391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1792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61792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יהודית בצה״ל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3160" y="231526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קוד אתי חדש וחיל חינוך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39608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07063" y="348752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094415" y="363473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02975" y="363473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69874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69874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מילואים וגבורה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23160" y="339608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תגמול המילואים ושדולת הגבורה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47690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07063" y="456834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094415" y="471555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02975" y="471555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477956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77956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זהות בחינוך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23160" y="447690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חוק חינוך ממלכתי, תנ״ך, היסטוריה וחינוך ביתי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5557720"/>
            <a:ext cx="11368735" cy="9345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1707063" y="5649160"/>
            <a:ext cx="54864" cy="7516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094415" y="5796378"/>
            <a:ext cx="457200" cy="457200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002975" y="5796378"/>
            <a:ext cx="64008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860386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 w="15875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5860386"/>
            <a:ext cx="1737360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23160" y="5557720"/>
            <a:ext cx="8534095" cy="9345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A2233"/>
                </a:solidFill>
                <a:latin typeface="Heebo"/>
                <a:cs typeface="Heebo"/>
              </a:rPr>
              <a:t>הפרדת ות״ת מהמל״ג ומוסד מחקר לאומי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פעילות כנסת · שבוע עבודה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12557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12557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3 ל-4 דיונים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12557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בכל שבוע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2019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62019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לפחות 2 ימי כנסת מלאים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2019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דיונים, פגישות ושיחות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1" y="1143000"/>
            <a:ext cx="3667658" cy="868680"/>
          </a:xfrm>
          <a:prstGeom prst="roundRect">
            <a:avLst>
              <a:gd name="adj" fmla="val 14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1" y="1234440"/>
            <a:ext cx="3667658" cy="43891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2200" b="1">
                <a:solidFill>
                  <a:srgbClr val="FFFFFF"/>
                </a:solidFill>
                <a:latin typeface="Heebo"/>
                <a:cs typeface="Heebo"/>
              </a:rPr>
              <a:t>בין 400 ל-600 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1" y="1691640"/>
            <a:ext cx="3667658" cy="25603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תגמול ליום כנסת · יום מלא או חצי יום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88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88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8A94A8"/>
                </a:solidFill>
                <a:latin typeface="Heebo"/>
                <a:cs typeface="Heebo"/>
              </a:rPr>
              <a:t>ראשון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003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הכנה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03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דיון במידה ויש · צוות המחקר מכין ניירות ותדריך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95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095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שני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09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09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101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שלישי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016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016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1083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1083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רביעי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227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227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1" y="2194560"/>
            <a:ext cx="2171334" cy="1188720"/>
          </a:xfrm>
          <a:prstGeom prst="roundRect">
            <a:avLst>
              <a:gd name="adj" fmla="val 1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1" y="2286000"/>
            <a:ext cx="217133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חמישי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1" y="2542032"/>
            <a:ext cx="1988454" cy="4114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500" b="1">
                <a:solidFill>
                  <a:srgbClr val="122755"/>
                </a:solidFill>
                <a:latin typeface="Heebo"/>
                <a:cs typeface="Heebo"/>
              </a:rPr>
              <a:t>דיונים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1" y="2944368"/>
            <a:ext cx="1988454" cy="4114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22755"/>
                </a:solidFill>
                <a:latin typeface="Heebo"/>
                <a:cs typeface="Heebo"/>
              </a:rPr>
              <a:t>בוועדות הכנסת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1" y="3474720"/>
            <a:ext cx="4470684" cy="566928"/>
          </a:xfrm>
          <a:prstGeom prst="roundRect">
            <a:avLst>
              <a:gd name="adj" fmla="val 18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1" y="3511296"/>
            <a:ext cx="4196364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קביעת סדר היום לשבוע הבא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1" y="3767328"/>
            <a:ext cx="4196364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העברה לצוות המחקר ושיבוץ לדיונים · לא יאוחר מחמישי בבוקר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8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70168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מי הולך לכנסת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359124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533327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359124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29473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203676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9473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822" y="4709160"/>
            <a:ext cx="1238211" cy="5029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874025" y="4782312"/>
            <a:ext cx="45720" cy="35661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822" y="4764024"/>
            <a:ext cx="1238211" cy="26151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99822" y="4985766"/>
            <a:ext cx="1238211" cy="20116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או עו״ד אודליה קדמי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70171" y="4709160"/>
            <a:ext cx="1238211" cy="502920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71" y="4709160"/>
            <a:ext cx="1238211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70168" y="534924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נציג רביעי: משרה חלקית, או בשילוב עם תפקיד איש התוכן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370168" y="5760720"/>
            <a:ext cx="5227167" cy="640080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1608" y="5760720"/>
            <a:ext cx="5044287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+ אקטיביסטים משלימים חורים ומצטרפים לנציג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160520"/>
            <a:ext cx="5592927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" y="4270248"/>
            <a:ext cx="5227167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600" b="1">
                <a:solidFill>
                  <a:srgbClr val="1C3C7A"/>
                </a:solidFill>
                <a:latin typeface="Heebo"/>
                <a:cs typeface="Heebo"/>
              </a:rPr>
              <a:t>איש תוכן ותקשורת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4617720"/>
            <a:ext cx="522716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משרה חלקית בכח התערבות · אפשר בשילוב עם 'על המשמעות'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0080" y="507492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לוקח חלק פעיל בסדר היום של הארגון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" y="5623560"/>
            <a:ext cx="5135727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A2233"/>
                </a:solidFill>
                <a:latin typeface="Heebo"/>
                <a:cs typeface="Heebo"/>
              </a:rPr>
              <a:t>• איתו בונים את החשיפה בתקשורת וברשתות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א׳ · שינוי מבני, בלי לגעת בשכר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ללא שינוי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במקום נציג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בהתנדבות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20,750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249,000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1,600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מה משתנה בשלב הזה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אין נציג 4: הדיונים מתחלקים בין הצוות, הדירקטוריון והאקטיביסטים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תעריף פתיחה ליום כנסת: 300 ₪ חצי יום · 450 ₪ יום מלא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1A2233"/>
                </a:solidFill>
                <a:latin typeface="Heebo"/>
                <a:cs typeface="Heebo"/>
              </a:rPr>
              <a:t>• סדר היום לשבוע הבא נסגר עד חמישי בבוקר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שלב ב׳ · שכר מספק למערך מלא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40680" y="1188720"/>
            <a:ext cx="6339535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23560" y="1188720"/>
            <a:ext cx="3413455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תפקיד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188720"/>
            <a:ext cx="128016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לחודש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188720"/>
            <a:ext cx="137160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שינוי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40680" y="166420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6420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מנכ״ל · אדם קורגן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166420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177393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177393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+5,000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40680" y="2249424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249424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249424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5915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77840" y="2359152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+2,000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2834640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75320" y="2834640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03720" y="2834640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294436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0" y="2944368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122755"/>
                </a:solidFill>
                <a:latin typeface="Heebo"/>
                <a:cs typeface="Heebo"/>
              </a:rPr>
              <a:t>+1,000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419856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419856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3419856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77840" y="35295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3529584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 מלא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005072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4005072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4005072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77840" y="411480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77840" y="4114800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חוזר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40680" y="4590288"/>
            <a:ext cx="6339535" cy="512064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4590288"/>
            <a:ext cx="3322015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A2233"/>
                </a:solidFill>
                <a:latin typeface="Heebo"/>
                <a:cs typeface="Heebo"/>
              </a:rPr>
              <a:t>תמיר דורטל · 4 דיונים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590288"/>
            <a:ext cx="1280160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1C3C7A"/>
                </a:solidFill>
                <a:latin typeface="Heebo"/>
                <a:cs typeface="Heebo"/>
              </a:rPr>
              <a:t>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577840" y="470001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77840" y="4700016"/>
            <a:ext cx="123444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בעלים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1480" y="1188720"/>
            <a:ext cx="4754880" cy="2331720"/>
          </a:xfrm>
          <a:prstGeom prst="roundRect">
            <a:avLst>
              <a:gd name="adj" fmla="val 6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1325880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0C000"/>
                </a:solidFill>
                <a:latin typeface="Heebo"/>
                <a:cs typeface="Heebo"/>
              </a:rPr>
              <a:t>עלות חודשית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" y="1600200"/>
            <a:ext cx="4754880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4400" b="1">
                <a:solidFill>
                  <a:srgbClr val="FFFFFF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2304288"/>
            <a:ext cx="47548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0">
                <a:solidFill>
                  <a:srgbClr val="FFFFFF"/>
                </a:solidFill>
                <a:latin typeface="Heebo"/>
                <a:cs typeface="Heebo"/>
              </a:rPr>
              <a:t>379,200 ₪ בשנה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83464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3464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2697480"/>
            <a:ext cx="2148840" cy="658368"/>
          </a:xfrm>
          <a:prstGeom prst="roundRect">
            <a:avLst>
              <a:gd name="adj" fmla="val 15000"/>
            </a:avLst>
          </a:prstGeom>
          <a:solidFill>
            <a:srgbClr val="2A4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2715768"/>
            <a:ext cx="214884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FFFFFF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60" y="3054096"/>
            <a:ext cx="214884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3703320"/>
            <a:ext cx="47548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4360" y="3813048"/>
            <a:ext cx="438912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500" b="1">
                <a:solidFill>
                  <a:srgbClr val="1C3C7A"/>
                </a:solidFill>
                <a:latin typeface="Heebo"/>
                <a:cs typeface="Heebo"/>
              </a:rPr>
              <a:t>שכר מספק הוא השקעה, לא הוצאה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4434840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מי שמתפרנס מהתפקיד מתחייב אליו: מגיע לכל דיון, מוכן, ולאורך זמן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" y="5056632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פחות תחלופה = פחות חפיפות, ויותר היכרות אישית עם חברי הכנסת והיועצים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678424"/>
            <a:ext cx="429768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• דיון שחסכנו עליו עולה מעט. דיון שפספסנו עולה בחוק שעבר בלעדינו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הוצאות · שלושה מודלים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143037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81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3037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3037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122755"/>
                </a:solidFill>
                <a:latin typeface="Heebo"/>
                <a:cs typeface="Heebo"/>
              </a:rPr>
              <a:t>מודל אידיאלי התחלתי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34477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122755"/>
                </a:solidFill>
                <a:latin typeface="Heebo"/>
                <a:cs typeface="Heebo"/>
              </a:rPr>
              <a:t>צוות מלא בשכר מספק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43037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31,600 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3037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379,200 ₪ בשנה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07346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07346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07346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5917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7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1,975 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7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7477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0197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15,000 ₪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325917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377477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0197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7,000 ₪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325917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77477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0197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6,000 ₪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325917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377477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3 · 4 דיונים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80197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325917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377477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נציג 4 · 4 דיונים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80197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1,800 ₪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25917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325917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400 ₪ חצי יום · 600 ₪ יום מלא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9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277259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77259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ביניים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68699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בלי נציג 4 · דירקטוריון ואקטיביסטים משלימים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7259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23,050 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7259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276,600 ₪ בשנה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1568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1568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1568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460139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60139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1,440 ₪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60139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11699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14419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12,000 ₪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4460139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511699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14419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460139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5511699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חצי משרה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14419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460139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511699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3 דיונים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14419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1,050 ₪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4460139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511699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3 דיונים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14419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4460139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4460139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1" y="1188720"/>
            <a:ext cx="3637178" cy="51206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11481" y="1188720"/>
            <a:ext cx="3637178" cy="868680"/>
          </a:xfrm>
          <a:prstGeom prst="roundRect">
            <a:avLst>
              <a:gd name="adj" fmla="val 12000"/>
            </a:avLst>
          </a:prstGeom>
          <a:solidFill>
            <a:srgbClr val="4A5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1" y="1280160"/>
            <a:ext cx="3637178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2000" b="1">
                <a:solidFill>
                  <a:srgbClr val="FFFFFF"/>
                </a:solidFill>
                <a:latin typeface="Heebo"/>
                <a:cs typeface="Heebo"/>
              </a:rPr>
              <a:t>מודל רזה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1" y="1664208"/>
            <a:ext cx="345429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F0C000"/>
                </a:solidFill>
                <a:latin typeface="Heebo"/>
                <a:cs typeface="Heebo"/>
              </a:rPr>
              <a:t>מינימום דיונים · איש תוכן משותף עם 'על המשמעות'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1" y="2148840"/>
            <a:ext cx="3637178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3600" b="1">
                <a:solidFill>
                  <a:srgbClr val="1C3C7A"/>
                </a:solidFill>
                <a:latin typeface="Heebo"/>
                <a:cs typeface="Heebo"/>
              </a:rPr>
              <a:t>18,250 ₪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11481" y="2743200"/>
            <a:ext cx="363717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0">
                <a:solidFill>
                  <a:srgbClr val="8A94A8"/>
                </a:solidFill>
                <a:latin typeface="Heebo"/>
                <a:cs typeface="Heebo"/>
              </a:rPr>
              <a:t>לחודש · 219,000 ₪ בשנה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275790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275790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75790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דיונים בחודש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94361" y="3108960"/>
            <a:ext cx="1589989" cy="658368"/>
          </a:xfrm>
          <a:prstGeom prst="roundRect">
            <a:avLst>
              <a:gd name="adj" fmla="val 15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94361" y="3136392"/>
            <a:ext cx="1589989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1,400 ₪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4361" y="3474720"/>
            <a:ext cx="1589989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לדיון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645921" y="393192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48641" y="393192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10,000 ₪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94361" y="427024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1645921" y="429768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עוזר מנכ״ל · חצי משרה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8641" y="429768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5,000 ₪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594361" y="463600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1645921" y="466344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מנהל תוכן · משותף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48641" y="466344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2,500 ₪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594361" y="500176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645921" y="502920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חברי דירקטוריון · 2 דיונים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8641" y="502920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1">
                <a:solidFill>
                  <a:srgbClr val="1C3C7A"/>
                </a:solidFill>
                <a:latin typeface="Heebo"/>
                <a:cs typeface="Heebo"/>
              </a:rPr>
              <a:t>750 ₪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594361" y="536752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1645921" y="5394960"/>
            <a:ext cx="2219858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אקטיביסטים · 2 דיונים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1" y="5394960"/>
            <a:ext cx="1097280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100" b="0">
                <a:solidFill>
                  <a:srgbClr val="8A94A8"/>
                </a:solidFill>
                <a:latin typeface="Heebo"/>
                <a:cs typeface="Heebo"/>
              </a:rPr>
              <a:t>בהתנדבות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94361" y="5733288"/>
            <a:ext cx="3271418" cy="0"/>
          </a:xfrm>
          <a:prstGeom prst="line">
            <a:avLst/>
          </a:prstGeom>
          <a:ln w="9525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94361" y="5806440"/>
            <a:ext cx="327141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תעריף: 300 ₪ חצי יום · 450 ₪ יום מלא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11480" y="6419088"/>
            <a:ext cx="11368735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כל נותני השירות פרילנסרים · תמיר דורטל ללא שכר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