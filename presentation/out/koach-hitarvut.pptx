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2651760"/>
            <a:ext cx="118186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קבוע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חלק אינטגרלי מהצוות · עוקב באופן עקבי אחרי סדר היום ומפיק תוכן בזמן אמת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התיישבות: ייהוד הגליל והנגב וגרעיני נח״ל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יהודית בצה״ל: קוד אתי חדש וחיל חינוך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מילואים וגבורה: תגמול המילואים ושדולת הגבורה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בחינוך: חוק חינוך ממלכתי, תנ״ך, היסטוריה וחינוך ביתי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אקדמיה ומחקר: 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א׳ · תוכנית עבודה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 · מייסד, ראש תחום כלכלה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רפורמת נשק ארוך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עמדה: מודלים מהעולם ונתוני ביטחון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תיאום עם אודליה ושדולת האזרח החמוש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 + אודליה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פנייה לשר לביטחון לאומי לשינוי מבחני הזכאות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 + אודליה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בוועדה לביטחון לאומי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גיבוי: תיקון חוק כלי הירייה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אישור טסלה: נהיגה אוטונומית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הרגולציה בעולם ועלות העיכוב לישראל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פגישה עם משרד התחבורה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מהיר בוועדת הכלכלה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שאילתה: לוח זמנים לאישור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52120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607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תוכן: כמה עולה לנו הרגולציה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תמיר + איש תוכן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607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לאורך הכנסת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209086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ב׳ · תוכנית עבודה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 · ראש תחום 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שדולה בכנסת למען האזרח החמוש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עמדה: נתוני רישוי ואירועים שנבלמו בידי אזרחים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יו"ר לשדולה וסגנים מהקואליציה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צוות הכנסת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רישום השדולה והשקה בכנסת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תחילת מושב א׳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כנס ראשון עם השר לביטחון לאומי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חודש שני למושב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מעקב קבוע אחר מדיניות הרישוי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שדולה + איש תוכן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לאורך הכנסת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חוק חסינות למשרתי ומתנדבי כוחות הביטחון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משפטי: ההגנות הקיימות והפערים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תמר ארבל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הצעת חוק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צוות משפטי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חברי כנסת מגישים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52120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607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החוקה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607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אודליה + נציג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607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209086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ג׳ · תוכנית עבודה · רווחה ומשפחה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 · ראש תחום רווחה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601343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601343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ייצוג סוציאלי פרטי בהליכי משפט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 ונתונים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חוק: חוות דעת סוציאלית נגדית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תמר ארבל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חברי כנסת מגישים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העבודה והרווחה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+ איש תוכן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535174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2993517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2993517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535174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זכויות אזרח בהליכי משפחה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מיפוי פערים בזכויות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אמנת זכויות בהליכי משפחה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מהיר בוועדת החוקה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תחילת מושב א׳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צירוף כפרק להצעת החוק של תוכנית 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11480" y="3927348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323015" y="4385691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31575" y="4385691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28455" y="3927348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מו"פ לרווחה ולבתי המשפט למשפחה ובתי הדין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94788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49652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 ומודלים מהעולם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49652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49652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751393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06257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סעיף מו"פ בתקציב משרד הרווחה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06257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צוות הכנסת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06257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דיוני התקציב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7321052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007998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62862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שאילתות לשרי הרווחה והמשפטים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2862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62862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5577657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2264603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19467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פיילוט עם אקדמיה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19467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19467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שנה א׳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3834262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411480" y="5319522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323015" y="5777865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1231575" y="5777865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4-5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28455" y="5319522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נציבויות פיקוח חיצוניות על הרווחה ועל בתי המשפט למשפחה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49478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4965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למה הגופים הקיימים לא מספיקים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4965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4965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751393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06257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חוק אחד בשני פרקים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06257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תמר ארבל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06257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94" name="Connector 93"/>
          <p:cNvCxnSpPr/>
          <p:nvPr/>
        </p:nvCxnSpPr>
        <p:spPr>
          <a:xfrm flipH="1">
            <a:off x="7321052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400799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06286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הקמת שדולה לזכויות המשפחה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6286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06286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5577657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264603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19467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19467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19467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104" name="Connector 103"/>
          <p:cNvCxnSpPr/>
          <p:nvPr/>
        </p:nvCxnSpPr>
        <p:spPr>
          <a:xfrm flipH="1">
            <a:off x="3834262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52120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7607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גיבוי: יחידה ייעודית אצל נציב התלונות על שופטים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7607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7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ב׳</a:t>
            </a:r>
          </a:p>
        </p:txBody>
      </p:sp>
      <p:cxnSp>
        <p:nvCxnSpPr>
          <p:cNvPr id="109" name="Connector 108"/>
          <p:cNvCxnSpPr/>
          <p:nvPr/>
        </p:nvCxnSpPr>
        <p:spPr>
          <a:xfrm flipH="1">
            <a:off x="2090867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ד׳ · תוכנית עבודה · חקיקה · חלק א׳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 · ראש תחום חקיקה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חוק הגנה עצמית: זכות יסוד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המודל האמריקאי מול הדין בישראל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נוסח: חזקת הגנה עצמית וחסינות מהעמדה לדין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תמר ארבל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תיאום עם אודליה ותמיר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החוקה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נציג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מיפוי הבעיה והחקיקה הקיימת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מדיניות והמלצות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מהיר בוועדת המדע והטכנולוגיה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הצעת חוק או תיקון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ב׳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11480" y="4507992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323015" y="5111496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31575" y="5111496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28455" y="4507992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ביטוח לאומי: איסור העברת כספים לחו״ל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9478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4965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מיפוי: אילו תשלומים יוצאים לחו״ל ובאיזה היקף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4965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4965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751393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06257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שאילתות לשר ולביטוח לאומי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06257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06257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7321052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00799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6286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תיקון לחוק הביטוח הלאומי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286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צוות משפטי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6286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5577657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2264603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19467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העבודה והרווחה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19467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19467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3834262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ד׳ · תוכנית עבודה · חקיקה · חלק ב׳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 · ראש תחום חקיקה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74650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74650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ניתוח המסמך והצעת תיקונים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טל קופל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שולחן עגול עם אנשי מילואים ורבנים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החוץ והביטחון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פנייה לשר הביטחון ולרמטכ״ל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20537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תמיר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294046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92024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11480" y="2825496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1323015" y="3429000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31575" y="3429000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8455" y="2825496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9478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4965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מדיניות: אילו מדדים ולמה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4965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צוות מחקר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965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5139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0625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הצגת ההמלצות למשרד החינוך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0625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0625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732105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007998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2862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החינוך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2862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2862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5577657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264603" y="2935224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19467" y="2971800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מעקב ופרסום שנתי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19467" y="37362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איש תוכן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319467" y="3976542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לאורך הכנסת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3834262" y="3602736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411480" y="4507992"/>
            <a:ext cx="11368735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323015" y="5111496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231575" y="5111496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28455" y="4507992"/>
            <a:ext cx="2103120" cy="1554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אמנות בינלאומיות: רק באישור הכנסת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9478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4965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היום הממשלה מאשרת אמנות בלי חוק מסדיר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4965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4965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751393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806257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נוסח: אמנה מחייבת רק באישור הכנסת ובחוק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06257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נגה + תמר ארבל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06257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7321052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400799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06286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תמיכה בקואליציה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6286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6286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5577657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2264603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19467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19467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19467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3834262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521208" y="4617720"/>
            <a:ext cx="1542227" cy="1335024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76072" y="4654296"/>
            <a:ext cx="1432499" cy="77431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יעד: עיגון בחוק יסוד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6072" y="5418734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6072" y="5659038"/>
            <a:ext cx="1432499" cy="2670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ב׳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2090867" y="5285232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ה׳ · תוכנית עבודה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 · 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98572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462125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462125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98572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מדיניות ותמחור לגליל ולנגב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1712488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1850416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טיוטת החלטת ממשלה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1712488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טל + צוות הכנסת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1850416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63586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מתווה גרעיני נח״ל מול משרד הביטחון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1712488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טל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1850416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63586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הפנים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1712488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1850416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63586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סעיפים בתקציב המדינה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1712488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1850416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דיוני התקציב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63586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256739"/>
            <a:ext cx="11368735" cy="98572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2575864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2575864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256739"/>
            <a:ext cx="2103120" cy="98572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זהות יהודית בצה״ל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366467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403043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על בסיס מסמכי 'תורת המדינה'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2826227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טל + נגה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2964155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366467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403043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שאילתות על חיל חינוך והרכב הפיקוד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2826227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2964155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274960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366467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403043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החוץ והביטחון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2826227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2964155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274960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366467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403043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פנייה לשר הביטחון ולרמטכ״ל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2826227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טל + תמיר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2964155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2749600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11480" y="3370478"/>
            <a:ext cx="11368735" cy="98572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323015" y="3689603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31575" y="3689603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28455" y="3370478"/>
            <a:ext cx="2103120" cy="98572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מילואים וגבורה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94788" y="3480206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49652" y="3516782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עלויות לתגמול המילואים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49652" y="3939966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49652" y="4077894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751393" y="3480206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06257" y="3516782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יו״ר לשדולת הגבורה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06257" y="3939966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טל + צוות הכנסת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06257" y="4077894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7321052" y="386333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007998" y="3480206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62862" y="3516782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השקת השדולה בכנסת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2862" y="3939966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62862" y="4077894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תחילת מושב א׳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5577657" y="386333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2264603" y="3480206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19467" y="3516782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הצעת חוק לתגמול המילואים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19467" y="3939966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19467" y="4077894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3834262" y="386333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521208" y="3480206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76072" y="3516782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מעקב אחר מדיניות העיטורים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6072" y="3939966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שדולה + איש תוכן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6072" y="4077894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לאורך הכנסת</a:t>
            </a:r>
          </a:p>
        </p:txBody>
      </p:sp>
      <p:cxnSp>
        <p:nvCxnSpPr>
          <p:cNvPr id="86" name="Connector 85"/>
          <p:cNvCxnSpPr/>
          <p:nvPr/>
        </p:nvCxnSpPr>
        <p:spPr>
          <a:xfrm flipH="1">
            <a:off x="2090867" y="386333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411480" y="4484217"/>
            <a:ext cx="11368735" cy="98572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1323015" y="4803342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1231575" y="4803342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28455" y="4484217"/>
            <a:ext cx="2103120" cy="98572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זהות בחינוך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7494788" y="4593945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549652" y="4630521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תיקון סעיף 2 לחוק חינוך ממלכתי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49652" y="5053705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טל + נגה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549652" y="5191633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751393" y="4593945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806257" y="4630521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מתווה תוכנית זהות ותנ״ך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806257" y="5053705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טל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806257" y="5191633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7321052" y="4977078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4007998" y="4593945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062862" y="4630521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062862" y="5053705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062862" y="5191633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104" name="Connector 103"/>
          <p:cNvCxnSpPr/>
          <p:nvPr/>
        </p:nvCxnSpPr>
        <p:spPr>
          <a:xfrm flipH="1">
            <a:off x="5577657" y="4977078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2264603" y="4593945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319467" y="4630521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החינוך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319467" y="5053705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319467" y="5191633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109" name="Connector 108"/>
          <p:cNvCxnSpPr/>
          <p:nvPr/>
        </p:nvCxnSpPr>
        <p:spPr>
          <a:xfrm flipH="1">
            <a:off x="3834262" y="4977078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ounded Rectangle 109"/>
          <p:cNvSpPr/>
          <p:nvPr/>
        </p:nvSpPr>
        <p:spPr>
          <a:xfrm>
            <a:off x="521208" y="4593945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76072" y="4630521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תקנות לחינוך ביתי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76072" y="5053705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טל + צוות הכנסת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76072" y="5191633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ב׳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2090867" y="4977078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411480" y="5597956"/>
            <a:ext cx="11368735" cy="98572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323015" y="5917081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1231575" y="5917081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128455" y="5597956"/>
            <a:ext cx="2103120" cy="98572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494788" y="5707684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549652" y="5744260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הפרדת ות״ת מהמל״ג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549652" y="6167444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549652" y="6305372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751393" y="5707684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806257" y="5744260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שאילתות על מימון ון ליר והמי״ל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806257" y="6167444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806257" y="6305372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127" name="Connector 126"/>
          <p:cNvCxnSpPr/>
          <p:nvPr/>
        </p:nvCxnSpPr>
        <p:spPr>
          <a:xfrm flipH="1">
            <a:off x="7321052" y="609081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Rounded Rectangle 127"/>
          <p:cNvSpPr/>
          <p:nvPr/>
        </p:nvSpPr>
        <p:spPr>
          <a:xfrm>
            <a:off x="4007998" y="5707684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062862" y="5744260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תיקון לחוק המל״ג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062862" y="6167444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טל + תמר ארבל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062862" y="6305372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132" name="Connector 131"/>
          <p:cNvCxnSpPr/>
          <p:nvPr/>
        </p:nvCxnSpPr>
        <p:spPr>
          <a:xfrm flipH="1">
            <a:off x="5577657" y="609081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/>
          <p:cNvSpPr/>
          <p:nvPr/>
        </p:nvSpPr>
        <p:spPr>
          <a:xfrm>
            <a:off x="2264603" y="5707684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319467" y="5744260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החינוך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319467" y="6167444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319467" y="6305372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137" name="Connector 136"/>
          <p:cNvCxnSpPr/>
          <p:nvPr/>
        </p:nvCxnSpPr>
        <p:spPr>
          <a:xfrm flipH="1">
            <a:off x="3834262" y="609081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ounded Rectangle 137"/>
          <p:cNvSpPr/>
          <p:nvPr/>
        </p:nvSpPr>
        <p:spPr>
          <a:xfrm>
            <a:off x="521208" y="5707684"/>
            <a:ext cx="1542227" cy="766267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76072" y="5744260"/>
            <a:ext cx="1432499" cy="44443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מודל למוסד מחקר לאומי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76072" y="6167444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טל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76072" y="6305372"/>
            <a:ext cx="1432499" cy="153253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שנה א׳</a:t>
            </a:r>
          </a:p>
        </p:txBody>
      </p:sp>
      <p:cxnSp>
        <p:nvCxnSpPr>
          <p:cNvPr id="142" name="Connector 141"/>
          <p:cNvCxnSpPr/>
          <p:nvPr/>
        </p:nvCxnSpPr>
        <p:spPr>
          <a:xfrm flipH="1">
            <a:off x="2090867" y="609081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