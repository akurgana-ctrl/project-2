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2356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49</a:t>
            </a:r>
            <a:r>
              <a:rPr sz="1300">
                <a:solidFill>
                  <a:srgbClr val="FFFFFF"/>
                </a:solidFill>
                <a:latin typeface="Heebo"/>
              </a:rPr>
              <a:t> אנשים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</a:t>
            </a:r>
            <a:r>
              <a:rPr sz="1300">
                <a:solidFill>
                  <a:srgbClr val="FFFFFF"/>
                </a:solidFill>
                <a:latin typeface="Heebo"/>
              </a:rPr>
              <a:t> צוותים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מנהל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מנהל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2 ·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32 ·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15 · נמוכה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166359" y="1097280"/>
            <a:ext cx="5577840" cy="5577840"/>
          </a:xfrm>
          <a:prstGeom prst="ellipse">
            <a:avLst/>
          </a:prstGeom>
          <a:solidFill>
            <a:srgbClr val="EEF1F7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39" y="1965960"/>
            <a:ext cx="3840480" cy="3840480"/>
          </a:xfrm>
          <a:prstGeom prst="ellipse">
            <a:avLst/>
          </a:prstGeom>
          <a:solidFill>
            <a:srgbClr val="D9E1F0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7999" y="2788920"/>
            <a:ext cx="2194560" cy="2194560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7999" y="3044952"/>
            <a:ext cx="219456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הליבה · בשכר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3246120"/>
            <a:ext cx="219456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800" b="1">
                <a:solidFill>
                  <a:srgbClr val="122755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39" y="3630168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תמיר דורטל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39" y="3877056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חבר דירקטוריון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39" y="4123944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39" y="4370832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22755"/>
                </a:solidFill>
                <a:latin typeface="Heebo"/>
                <a:cs typeface="Heebo"/>
              </a:rPr>
              <a:t>+ איש תוכן ותקשורת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63739" y="2112264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63739" y="2148840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3739" y="2407066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ניירות עמדה · טמיר שרגא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101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101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דיגיטל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01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הפצה ברשתות · איתמר כהן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6645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6645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645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מצטרפים לנציג · יהונתן יחזקאל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79" y="1225296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79" y="1261872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הנהלה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79" y="1520098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מנהל אדם קורגן + מנהל נוסף (לאיוש)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5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5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אודליה · נגה · שלומית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19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19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19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טל קופל · תמר ארבל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1325880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1325880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2002536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002536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278892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886200" y="291693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94760" y="291693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288036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נציג קבוע בכל דיון: זה מה שבונה אמינות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30098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אקטיביסט יגיע לדיון לבד רק כשאין בשום אופן נציג אחר. מערך שנשען על מתנדבים יקרוס בחיתוליו, גם תדמיתית וגם אופרטיבית.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429768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886200" y="442569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94760" y="442569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38912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איש התוכן: חלק מהצוות, לא ספק חיצוני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80974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רק מי שלוקח חלק פעיל בסדר היום יכול להפוך כל דיון בכנסת לחשיפה: מהר, מדויק ואמין.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תמיר דורטל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מייסד · כלכלה, רגולציה וביטחון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07568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75688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3367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33672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רגולציה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92424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עו״ד אודליה קדמי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07568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75688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3367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33672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כוחות הביטחון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92424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שלומית לביא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רווחה ומשפחה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3710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3710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זכויות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1792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1792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זכויות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31526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9874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9874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מחקר ומדיניות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39608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77956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77956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47690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86038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6038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555772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נגה ארבל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חקיקה · ביטחון אישי ולאומי, ריבונות, צה״ל וחינוך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1880" y="160020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1880" y="1600200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69200" y="1234440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עצמית: זכות יסוד, בדומה לארה״ב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1880" y="275234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1880" y="2752344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טכנולוגיה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9200" y="2386584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1880" y="3904488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1880" y="3904488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ביטחון לאומי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9200" y="3538728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1" y="160020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1" y="1600200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צה״ל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1" y="1234440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1" y="275234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1" y="2752344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חינוך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1" y="2386584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1" y="3904488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1" y="3904488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ריבונות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11681" y="3538728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טל קופל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אתיקה, חינוך והתיישבות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3710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3710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התיישבות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ייהוד הגליל והנגב וגרעיני נח״ל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1792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1792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זהות יהודית בצה״ל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31526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קוד אתי חדש וחיל חינוך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9874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9874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מילואים וגבורה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39608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תגמול המילואים ושדולת הגבורה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77956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77956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זהות בחינוך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47690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חוק חינוך ממלכתי, תנ״ך, היסטוריה וחינוך ביתי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86038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6038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אקדמיה ומחקר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555772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הפרדת ות״ת מהמל״ג ומוסד מחקר לאומי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פעילות כנסת · שבוע עבודה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187288" y="1143000"/>
            <a:ext cx="5592927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87288" y="1234440"/>
            <a:ext cx="5592927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3 ל-4 דיונים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7288" y="1691640"/>
            <a:ext cx="5592927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בכל שבוע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1" y="1143000"/>
            <a:ext cx="5592927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1" y="1234440"/>
            <a:ext cx="5592927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1" y="1691640"/>
            <a:ext cx="5592927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דיונים, פגישות ושיחות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88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88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ראשון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003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הכנה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03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דיון במידה ויש · צוות המחקר מכין ניירות ותדריך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95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095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שני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09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09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101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1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שלישי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16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16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108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108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רביעי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022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022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חמישי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1" y="3474720"/>
            <a:ext cx="4470684" cy="566928"/>
          </a:xfrm>
          <a:prstGeom prst="roundRect">
            <a:avLst>
              <a:gd name="adj" fmla="val 18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1" y="3511296"/>
            <a:ext cx="419636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קביעת סדר היום לשבוע הבא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1" y="3767328"/>
            <a:ext cx="4196364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העברה לצוות המחקר ושיבוץ לדיונים · לא יאוחר מחמישי בבוקר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87288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70168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מי הולך לכנסת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59124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533327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59124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29473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203676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29473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699822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874025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822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חבר דירקטוריון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70171" y="4709160"/>
            <a:ext cx="1238211" cy="50292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70171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70168" y="534924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נציג רביעי: איש קבוע. תפקיד חדש, או בשילוב עם איש התוכן או המנהל הנוסף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70168" y="5760720"/>
            <a:ext cx="5227167" cy="64008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61608" y="5760720"/>
            <a:ext cx="5044287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+ אקטיביסטים משלימים חורים ומצטרפים לנציג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1480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איש תוכן ותקשורת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4360" y="461772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משרה חלקית בכח התערבות · אפשר בשילוב עם 'על המשמעות'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07492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לוקח חלק פעיל בסדר היום של הארגון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562356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איתו בונים את החשיפה בתקשורת וברשתות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א׳ · שינוי מבני, בלי לגעת בשכר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במקום נציג 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בהתנדבות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חדש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40680" y="5230368"/>
            <a:ext cx="6339535" cy="457200"/>
          </a:xfrm>
          <a:prstGeom prst="roundRect">
            <a:avLst>
              <a:gd name="adj" fmla="val 3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23560" y="5230368"/>
            <a:ext cx="5973775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22755"/>
                </a:solidFill>
                <a:latin typeface="Heebo"/>
                <a:cs typeface="Heebo"/>
              </a:rPr>
              <a:t>תגמול ליום כנסת: 300 ₪ חצי יום · 450 ₪ יום מלא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20,750 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249,000 ₪ בשנה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2697480"/>
            <a:ext cx="438912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2715768"/>
            <a:ext cx="438912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" y="3054096"/>
            <a:ext cx="438912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מה משתנה בשלב הזה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אין נציג 4: הדיונים מתחלקים בין הצוות, הדירקטוריון והאקטיביסטים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סדר היום לשבוע הבא נסגר עד חמישי בבוקר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ב׳ · שכר מספק למערך מלא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+5,000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+2,000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+1,000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 מלא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חוזר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40680" y="5230368"/>
            <a:ext cx="6339535" cy="457200"/>
          </a:xfrm>
          <a:prstGeom prst="roundRect">
            <a:avLst>
              <a:gd name="adj" fmla="val 3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23560" y="5230368"/>
            <a:ext cx="5973775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22755"/>
                </a:solidFill>
                <a:latin typeface="Heebo"/>
                <a:cs typeface="Heebo"/>
              </a:rPr>
              <a:t>תגמול ליום כנסת: 400 ₪ חצי יום · 600 ₪ יום מלא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379,200 ₪ בשנה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2697480"/>
            <a:ext cx="438912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2715768"/>
            <a:ext cx="438912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" y="3054096"/>
            <a:ext cx="438912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שכר מספק הוא השקעה, לא הוצאה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מי שמתפרנס מהתפקיד מתחייב אליו: מגיע לכל דיון, מוכן, ולאורך זמן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פחות תחלופה = פחות חפיפות, ויותר היכרות אישית עם חברי הכנסת והיועצים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5678424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דיון שחסכנו עליו עולה מעט. דיון שפספסנו עולה בחוק שעבר בלעדינו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הוצאות · שלושה מודלים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43037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43037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3037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122755"/>
                </a:solidFill>
                <a:latin typeface="Heebo"/>
                <a:cs typeface="Heebo"/>
              </a:rPr>
              <a:t>מודל אידיאלי התחלתי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4477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צוות מלא בשכר מספק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43037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3037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379,200 ₪ בשנה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5917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5917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5917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7477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· אדם קורגן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0197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325917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377477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· חצי משרה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0197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325917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377477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0197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25917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377477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197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325917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377477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0197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25917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325917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400 ₪ חצי יום · 600 ₪ יום מלא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7259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277259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77259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ביניים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8699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בלי נציג 4 · דירקטוריון ואקטיביסטים משלימים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77259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23,050 ₪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77259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276,600 ₪ בשנה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60139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0139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60139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11699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· אדם קורגן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14419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12,000 ₪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460139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511699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· חצי משרה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14419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460139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511699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14419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460139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511699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3 דיונים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14419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1,050 ₪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460139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511699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3 דיונים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14419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460139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460139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1481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11481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481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רזה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1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מינימום דיונים · איש תוכן משותף עם 'על המשמעות'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1481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18,250 ₪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1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219,000 ₪ בשנה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4361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94361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4361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45921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· אדם קורגן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1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94361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645921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· חצי משרה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1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94361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1645921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משותף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1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2,500 ₪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94361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1645921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1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94361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645921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1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94361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94361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6419088"/>
            <a:ext cx="11368735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כל נותני השירות פרילנסרים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