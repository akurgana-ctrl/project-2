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קבוע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חלק אינטגרלי מהצוות · עוקב באופן עקבי אחרי סדר היום ומפיק תוכן בזמן אמת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33445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33445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הטמעת המושג 'ייהוד' הגליל והנגב בעבודת הממשלה והמוסדות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1909953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001393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009965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009965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1909953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תוכנית מעשית לייהוד הגליל והנגב: כלכלה, מגורים, חקלאות ותעשייה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2585466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2676906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268547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268547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2585466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גרעיני נח"ל ביו"ש, עזה, לבנון וסוריה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9000" y="3260979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3352419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222431" y="3360991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30991" y="3360991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80" y="3260979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קוד אתי חדש לצה"ל מנקודת מבט יהודית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9000" y="3936492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4027932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222431" y="4036504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30991" y="4036504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80" y="3936492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סגירת חיל חינוך ופתיחתו מחדש ברוח 'אגף תודעה יהודית'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69000" y="4612005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707063" y="4703445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222431" y="4712017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30991" y="4712017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1880" y="4612005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גיוון בפיקוד בח"א, במודיעין וביחידות המובחרות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9000" y="5287518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707063" y="5378958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222431" y="5387530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0991" y="5387530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1880" y="5287518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תוכנית בנוסח 'לתת חמש' לזהות: תנ"ך והיסטוריה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69000" y="5963031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707063" y="6054471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22431" y="6063043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30991" y="6063043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1880" y="5963031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לימוד מבנה סידור התפילה בתיכון (מודל פרופ׳ שביד)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1" y="1234440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49544" y="1325880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464912" y="133445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3472" y="133445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1" y="1234440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תיקון סעיף 2 לחוק חינוך ממלכתי: ערכים לאומיים־אמוניים וגבורה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1" y="1909953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949544" y="2001393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464912" y="2009965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73472" y="2009965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1" y="1909953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הקלות רגולטוריות והכרה במס לחינוך ביתי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1481" y="2585466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49544" y="2676906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464912" y="268547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73472" y="268547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1" y="2585466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הפרדת ות"ת מהמל"ג וגיוון אידיאולוגי ואמוני בשתיהן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1" y="3260979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949544" y="3352419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464912" y="3360991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73472" y="3360991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1" y="3260979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ניטור מכון ון ליר והמי"ל, כולל הנחות ארנונה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11481" y="3936492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949544" y="4027932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464912" y="4036504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73472" y="4036504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1" y="3936492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מוסד מחקר מקביל לקידום 'תרבות הלאום היהודי'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1" y="4612005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49544" y="4703445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464912" y="4712017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73472" y="4712017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1" y="4612005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שינוי תגמול המילואים וחיבורו ליעדים הלאומיים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1" y="5287518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949544" y="5378958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464912" y="5387530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73472" y="5387530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361" y="5287518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שדולת הגבורה: מעקב אחר מדיניות עיטורים וצל"שים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א׳ · תוכנית עבודה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 · ראש תחום 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שדולה בכנסת למען האזרח החמוש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עמדה: נתוני רישוי ואירועים שנבלמו בידי אזרחים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יו"ר לשדולה וסגנים מהקואליציה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צוות הכנסת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רישום השדולה והשקה בכנסת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כנס ראשון עם השר לביטחון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חודש שני למושב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מעקב קבוע אחר מדיניות הרישוי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שדולה + איש תוכן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חוק חסינות למשרתי ומתנדבי כוחות הביטחון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משפטי: ההגנות הקיימות והפערים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תמר ארבל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הצעת חוק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צוות משפטי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חברי כנסת מגישים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2120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07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החוקה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נציג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607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209086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ב׳ · תוכנית עבודה · רווחה ומשפחה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 · ראש תחום רווחה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601343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601343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ייצוג סוציאלי פרטי בהליכי משפט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ונתונים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חוק: חוות דעת סוציאלית נגדית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חברי כנסת מגישים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העבודה והרווחה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+ איש תוכן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535174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2993517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2993517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535174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זכויות אזרח בהליכי משפחה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 פערים בזכויות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אמנת זכויות בהליכי משפחה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החוקה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צירוף כפרק להצעת החוק של תוכנית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11480" y="3927348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323015" y="4385691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31575" y="4385691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28455" y="3927348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מו"פ לרווחה ולבתי המשפט למשפחה ובתי הדין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9478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965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ומודלים מהעולם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4965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4965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5139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0625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סעיף מו"פ בתקציב משרד הרווחה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25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צוות הכנסת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0625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דיוני התקציב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732105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00799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286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שאילתות לשרי הרווחה והמשפטים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286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286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5577657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26460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1946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פיילוט עם אקדמיה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1946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1946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שנה א׳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383426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411480" y="5319522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323015" y="5777865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231575" y="5777865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4-5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28455" y="5319522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נציבויות פיקוח חיצוניות על הרווחה ועל בתי המשפט למשפחה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49478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4965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למה הגופים הקיימים לא מספיקים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4965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4965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75139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0625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חוק אחד בשני פרקים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0625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0625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94" name="Connector 93"/>
          <p:cNvCxnSpPr/>
          <p:nvPr/>
        </p:nvCxnSpPr>
        <p:spPr>
          <a:xfrm flipH="1">
            <a:off x="732105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400799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06286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הקמת שדולה לזכויות המשפחה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6286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06286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557765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26460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1946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1946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1946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104" name="Connector 103"/>
          <p:cNvCxnSpPr/>
          <p:nvPr/>
        </p:nvCxnSpPr>
        <p:spPr>
          <a:xfrm flipH="1">
            <a:off x="383426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52120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7607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גיבוי: יחידה ייעודית אצל נציב התלונות על שופטים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607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209086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ג׳ · תוכנית עבודה · התיישבות וצבא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 · 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097280"/>
            <a:ext cx="11368735" cy="329184"/>
          </a:xfrm>
          <a:prstGeom prst="roundRect">
            <a:avLst>
              <a:gd name="adj" fmla="val 1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96167" y="1097280"/>
            <a:ext cx="3108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4167" y="1097280"/>
            <a:ext cx="44256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תוכנית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487" y="1097280"/>
            <a:ext cx="186537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מסלול פעולה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3687" y="1097280"/>
            <a:ext cx="16824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ועדה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" y="1097280"/>
            <a:ext cx="235000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צעד ראשון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499616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47088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05311" y="193338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13871" y="193338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4167" y="1847088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הטמעת המושג 'ייהוד' הגליל והנגב בעבודת הממשלה והמוסדות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2487" y="1847088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החלטת ממשלה · שאילתות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687" y="1847088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הפנים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" y="1847088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מיפוי המונחים במסמכים רשמיים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367153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16207" y="2422017"/>
            <a:ext cx="54864" cy="355473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405311" y="2453449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3871" y="2453449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4167" y="2367153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תוכנית מעשית לייהוד הגליל והנגב: כלכלה, מגורים, חקלאות ותעשייה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2487" y="2367153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תקציב · החלטת ממשלה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3687" y="2367153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הכספים · הפנים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" y="2367153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מדיניות עם תמחור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2887218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05311" y="297351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13871" y="297351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4167" y="2887218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גרעיני נח"ל ביו"ש, עזה, לבנון וסוריה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2487" y="2887218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עבודה מול משרד הביטחון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83687" y="2887218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" y="2887218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 ופגישה במשרד הביטחון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3407283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צבא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375475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405311" y="3841051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13871" y="384105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4167" y="375475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קוד אתי חדש לצה"ל מנקודת מבט יהודית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12487" y="375475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דיון בוועדה · שדולה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83687" y="375475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375" y="375475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על בסיס מסמכי 'תורת המדינה'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274820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405311" y="4361116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13871" y="4361116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4167" y="4274820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סגירת חיל חינוך ופתיחתו מחדש ברוח 'אגף תודעה יהודית'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12487" y="4274820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 · שאילתות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83687" y="4274820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7375" y="4274820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79488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405311" y="4881181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313871" y="488118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24167" y="479488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גיוון בפיקוד בח"א, במודיעין וביחידות המובחרות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2487" y="479488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 · בקשת נתונים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83687" y="479488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7375" y="479488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שאילתות על הרכב הפיקוד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5314950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405311" y="5401246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313871" y="5401246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24167" y="5314950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שינוי תגמול המילואים וחיבורו ליעדים הלאומיים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2487" y="5314950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 · תקציב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83687" y="5314950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 · הכספים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7375" y="5314950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עלויות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1480" y="583501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716207" y="5889879"/>
            <a:ext cx="54864" cy="355473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1405311" y="5921311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13871" y="592131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24167" y="583501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שדולת הגבורה: מעקב אחר מדיניות עיטורים וצל"שים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12487" y="583501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שדולה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3687" y="583501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375" y="583501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גיוס יו"ר לשדולה</a:t>
            </a:r>
          </a:p>
        </p:txBody>
      </p:sp>
      <p:sp>
        <p:nvSpPr>
          <p:cNvPr id="74" name="Oval 73"/>
          <p:cNvSpPr/>
          <p:nvPr/>
        </p:nvSpPr>
        <p:spPr>
          <a:xfrm>
            <a:off x="411480" y="6473952"/>
            <a:ext cx="219456" cy="219456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6473952"/>
            <a:ext cx="402336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6437376"/>
            <a:ext cx="274320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תוכנית דגל מומלצת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ג׳ · תוכנית עבודה · חינוך ואקדמיה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 · 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097280"/>
            <a:ext cx="11368735" cy="329184"/>
          </a:xfrm>
          <a:prstGeom prst="roundRect">
            <a:avLst>
              <a:gd name="adj" fmla="val 1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96167" y="1097280"/>
            <a:ext cx="3108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4167" y="1097280"/>
            <a:ext cx="44256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תוכנית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487" y="1097280"/>
            <a:ext cx="186537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מסלול פעולה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3687" y="1097280"/>
            <a:ext cx="16824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ועדה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" y="1097280"/>
            <a:ext cx="235000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צעד ראשון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499616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4708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05311" y="194767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13871" y="194767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4167" y="184708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תוכנית בנוסח 'לתת חמש' לזהות: תנ"ך והיסטוריה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2487" y="184708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משרד החינוך · תקציב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687" y="184708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" y="184708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מתווה תוכנית ועלויות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39572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405311" y="249631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13871" y="249631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4167" y="239572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לימוד מבנה סידור התפילה בתיכון (מודל פרופ׳ שביד)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2487" y="239572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תוכנית לימודים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3687" y="239572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" y="239572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פנייה למזכירות הפדגוגית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294436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16207" y="2999232"/>
            <a:ext cx="54864" cy="38404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05311" y="3044952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13871" y="304495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4167" y="294436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תיקון סעיף 2 לחוק חינוך ממלכתי: ערכים לאומיים־אמוניים וגבורה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2487" y="294436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83687" y="294436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" y="294436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נוסח הצעת חוק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49300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405311" y="359359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313871" y="359359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4167" y="349300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הקלות רגולטוריות והכרה במס לחינוך ביתי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12487" y="349300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תקנות · מיסוי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3687" y="349300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 · הכספים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375" y="349300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השוואתי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041648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38912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716207" y="4443984"/>
            <a:ext cx="54864" cy="38404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405311" y="4489704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313871" y="448970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4167" y="438912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הפרדת ות"ת מהמל"ג וגיוון אידיאולוגי ואמוני בשתיהן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2487" y="438912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83687" y="438912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7375" y="438912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 ונוסח תיקון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493776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405311" y="503834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13871" y="503834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24167" y="493776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ניטור מכון ון ליר והמי"ל, כולל הנחות ארנונה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12487" y="493776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83687" y="493776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7375" y="493776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שאילתות ובקשות חופש מידע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48640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405311" y="558698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13871" y="558698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24167" y="548640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מוסד מחקר מקביל לקידום 'תרבות הלאום היהודי'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12487" y="548640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תקציב · תורמים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83687" y="548640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7375" y="548640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מודל משפטי ותקציבי</a:t>
            </a:r>
          </a:p>
        </p:txBody>
      </p:sp>
      <p:sp>
        <p:nvSpPr>
          <p:cNvPr id="67" name="Oval 66"/>
          <p:cNvSpPr/>
          <p:nvPr/>
        </p:nvSpPr>
        <p:spPr>
          <a:xfrm>
            <a:off x="411480" y="6473952"/>
            <a:ext cx="219456" cy="219456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6473952"/>
            <a:ext cx="402336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6437376"/>
            <a:ext cx="274320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תוכנית דגל מומלצת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