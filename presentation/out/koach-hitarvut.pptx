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מבנה ארגוני קיים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23560" y="201168"/>
            <a:ext cx="13258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200" b="1">
                <a:solidFill>
                  <a:srgbClr val="F0C000"/>
                </a:solidFill>
                <a:latin typeface="Heebo"/>
                <a:cs typeface="Heebo"/>
              </a:rPr>
              <a:t>48</a:t>
            </a:r>
            <a:r>
              <a:rPr sz="1300">
                <a:solidFill>
                  <a:srgbClr val="FFFFFF"/>
                </a:solidFill>
                <a:latin typeface="Heebo"/>
              </a:rPr>
              <a:t> אנשים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01168"/>
            <a:ext cx="13258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200" b="1">
                <a:solidFill>
                  <a:srgbClr val="F0C000"/>
                </a:solidFill>
                <a:latin typeface="Heebo"/>
                <a:cs typeface="Heebo"/>
              </a:rPr>
              <a:t>4</a:t>
            </a:r>
            <a:r>
              <a:rPr sz="1300">
                <a:solidFill>
                  <a:srgbClr val="FFFFFF"/>
                </a:solidFill>
                <a:latin typeface="Heebo"/>
              </a:rPr>
              <a:t> צוותים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87552"/>
            <a:ext cx="11368735" cy="2377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4A5568"/>
                </a:solidFill>
                <a:latin typeface="Heebo"/>
                <a:cs typeface="Heebo"/>
              </a:rPr>
              <a:t>דירקטוריון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76866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6866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תמיר דורטל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6866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מייסד · ראש תחום כלכלה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9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3789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עו״ד אודליה קדמי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3789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תחום ביטחון אישי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0712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0712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ד״ר אמיר רובין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0712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תחום רפואה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7635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7635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נגה ארבל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7635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תחום חקיקה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24558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4558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טל קופל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558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תחום חינוך ואתיקה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1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1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עו״ד תמר ארבל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1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תחום משפט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5847" y="1792224"/>
            <a:ext cx="0" cy="164592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907127" y="1956816"/>
            <a:ext cx="2377440" cy="438912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7127" y="2011680"/>
            <a:ext cx="2377440" cy="22823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אדם קורגן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7127" y="2198217"/>
            <a:ext cx="2377440" cy="1755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מנהל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2678" y="2843784"/>
            <a:ext cx="4057533" cy="2862072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62724" y="261518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62724" y="2670048"/>
            <a:ext cx="2377440" cy="23774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טמיר שרגא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2724" y="2866644"/>
            <a:ext cx="2377440" cy="182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צוות · צוות מחקר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45988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5988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אלטר כהן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30053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30053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יואב קוסטינר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4118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4118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מרדכי קמלמן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5988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45988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יפית בירון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0053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0053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נתנאל מאמו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4118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4118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ישי זנגן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45988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45988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אלון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0053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30053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ליאור טלמור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4118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4118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עידן ליפשיץ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45988" y="446227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45988" y="446227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יהודה ליבנר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30053" y="446227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30053" y="446227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מיכאל פסין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4118" y="446227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14118" y="446227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הדר שטרול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45988" y="4864608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45988" y="4864608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ישראל ציג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30053" y="4864608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30053" y="4864608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אסתר הורוביץ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814118" y="4864608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4118" y="4864608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מנחם ברעם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445988" y="526694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45988" y="526694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משה לנגלב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30053" y="526694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30053" y="526694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בנימין רוזנסקי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814118" y="526694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14118" y="526694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חגי כהן קלונימוס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90825" y="2843784"/>
            <a:ext cx="4057533" cy="165506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230871" y="261518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30871" y="2670048"/>
            <a:ext cx="2377440" cy="23774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יהונתן יחזקאל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30871" y="2866644"/>
            <a:ext cx="2377440" cy="182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צוות · צוות אקטיביסטים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14135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14135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רוני מרטין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98200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98200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בנימין שיפרין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482265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82265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משה הלר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14135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14135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יהודה שוורצמן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798200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98200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צופיה צדוק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82265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82265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יצחק פינק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14135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14135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דובי ג'ייקובס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98200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98200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סתיו רוט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5419591" y="4498848"/>
            <a:ext cx="0" cy="20116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3390825" y="4892040"/>
            <a:ext cx="4057533" cy="156362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230871" y="4700016"/>
            <a:ext cx="2377440" cy="384048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30871" y="4754880"/>
            <a:ext cx="2377440" cy="19970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יהונתן אמתי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30871" y="4911242"/>
            <a:ext cx="2377440" cy="15361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רכז נוער · קבוצת נוער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14135" y="521208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14135" y="521208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אביתר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798200" y="521208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98200" y="521208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אשל לוין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482265" y="521208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82265" y="521208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יהודה יאיר שיוביץ'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114135" y="561441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14135" y="561441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יובל גרינברגר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798200" y="561441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98200" y="561441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יוסף גוטויליג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482265" y="561441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82265" y="561441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משה הורוביץ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114135" y="601675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14135" y="601675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שני קולברש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11483" y="2843784"/>
            <a:ext cx="2705022" cy="2459736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75274" y="261518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5274" y="2670048"/>
            <a:ext cx="2377440" cy="23774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5B6475"/>
                </a:solidFill>
                <a:latin typeface="Heebo"/>
                <a:cs typeface="Heebo"/>
              </a:rPr>
              <a:t>איתמר כהן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5274" y="2866644"/>
            <a:ext cx="2377440" cy="182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8A94A8"/>
                </a:solidFill>
                <a:latin typeface="Heebo"/>
                <a:cs typeface="Heebo"/>
              </a:rPr>
              <a:t>ראש צוות (טוויטר) · צוות דיגיטל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800570" y="3255264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800570" y="3255264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5B6475"/>
                </a:solidFill>
                <a:latin typeface="Heebo"/>
                <a:cs typeface="Heebo"/>
              </a:rPr>
              <a:t>אלטר כהן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00570" y="3446190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8A94A8"/>
                </a:solidFill>
                <a:latin typeface="Heebo"/>
                <a:cs typeface="Heebo"/>
              </a:rPr>
              <a:t>(אינסטגרם)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02923" y="3255264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2923" y="3255264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5B6475"/>
                </a:solidFill>
                <a:latin typeface="Heebo"/>
                <a:cs typeface="Heebo"/>
              </a:rPr>
              <a:t>ישראל ציג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2923" y="3446190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8A94A8"/>
                </a:solidFill>
                <a:latin typeface="Heebo"/>
                <a:cs typeface="Heebo"/>
              </a:rPr>
              <a:t>(פייסבוק)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800570" y="3657600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800570" y="3657600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5B6475"/>
                </a:solidFill>
                <a:latin typeface="Heebo"/>
                <a:cs typeface="Heebo"/>
              </a:rPr>
              <a:t>מנחם זיבוטפסקי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800570" y="3848526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8A94A8"/>
                </a:solidFill>
                <a:latin typeface="Heebo"/>
                <a:cs typeface="Heebo"/>
              </a:rPr>
              <a:t>(יוטיוב)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2923" y="3657600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02923" y="3657600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5B6475"/>
                </a:solidFill>
                <a:latin typeface="Heebo"/>
                <a:cs typeface="Heebo"/>
              </a:rPr>
              <a:t>יהודה חדאד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2923" y="3848526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8A94A8"/>
                </a:solidFill>
                <a:latin typeface="Heebo"/>
                <a:cs typeface="Heebo"/>
              </a:rPr>
              <a:t>(אתר)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800570" y="4059936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800570" y="4059936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יוסף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02923" y="4059936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923" y="4059936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יהודה הנדלר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800570" y="4462272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800570" y="4462272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יואב קוסטינר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02923" y="4462272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2923" y="4462272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יוסף גוטויליג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800570" y="4864608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800570" y="4864608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5B6475"/>
                </a:solidFill>
                <a:latin typeface="Heebo"/>
                <a:cs typeface="Heebo"/>
              </a:rPr>
              <a:t>משה הלר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6095847" y="2395728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763994" y="2505456"/>
            <a:ext cx="7987450" cy="0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751444" y="2505456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5419591" y="2505456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763994" y="2505456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זמינות במבנה הארגוני הקיים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"/>
            <a:ext cx="1051560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F0C000"/>
                </a:solidFill>
                <a:latin typeface="Heebo"/>
                <a:cs typeface="Heebo"/>
              </a:rPr>
              <a:t>כל אדם צבוע לפי רמת הזמינות שלו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987552"/>
            <a:ext cx="11368735" cy="2377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4A5568"/>
                </a:solidFill>
                <a:latin typeface="Heebo"/>
                <a:cs typeface="Heebo"/>
              </a:rPr>
              <a:t>דירקטוריון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76866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76866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תמיר דורטל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866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מייסד · ראש תחום כלכלה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3789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3789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עו״ד אודליה קדמי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3789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תחום ביטחון אישי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0712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0712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ד״ר אמיר רובין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0712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תחום רפואה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7635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7635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נגה ארבל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7635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תחום חקיקה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24558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24558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טל קופל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4558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תחום חינוך ואתיקה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1" y="1243584"/>
            <a:ext cx="1803349" cy="548640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1" y="1298448"/>
            <a:ext cx="1803349" cy="28529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עו״ד תמר ארבל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1" y="1545336"/>
            <a:ext cx="1803349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תחום משפט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1792224"/>
            <a:ext cx="0" cy="164592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907127" y="1956816"/>
            <a:ext cx="2377440" cy="438912"/>
          </a:xfrm>
          <a:prstGeom prst="roundRect">
            <a:avLst>
              <a:gd name="adj" fmla="val 18000"/>
            </a:avLst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7127" y="2011680"/>
            <a:ext cx="2377440" cy="22823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אדם קורגן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7127" y="2198217"/>
            <a:ext cx="2377440" cy="17556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מנהל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2678" y="2843784"/>
            <a:ext cx="4057533" cy="2862072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62724" y="261518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2724" y="2670048"/>
            <a:ext cx="2377440" cy="23774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טמיר שרגא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2724" y="2866644"/>
            <a:ext cx="2377440" cy="182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צוות · צוות מחקר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45988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45988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אלטר כהן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30053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0053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יואב קוסטינר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4118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4118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מרדכי קמלמן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45988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45988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יפית בירון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30053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30053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נתנאל מאמו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4118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4118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ישי זנגן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45988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45988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אלון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30053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30053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ליאור טלמור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4118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14118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עידן ליפשיץ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45988" y="446227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45988" y="446227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יהודה ליבנר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30053" y="446227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30053" y="446227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מיכאל פסין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14118" y="446227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4118" y="446227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הדר שטרול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45988" y="4864608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45988" y="4864608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ישראל ציג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30053" y="4864608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30053" y="4864608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אסתר הורוביץ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14118" y="4864608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14118" y="4864608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מנחם ברעם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45988" y="526694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45988" y="526694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משה לנגלב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30053" y="526694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30053" y="526694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בנימין רוזנסקי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14118" y="526694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14118" y="526694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חגי כהן קלונימוס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390825" y="2843784"/>
            <a:ext cx="4057533" cy="165506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230871" y="261518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30871" y="2670048"/>
            <a:ext cx="2377440" cy="23774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יהונתן יחזקאל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30871" y="2866644"/>
            <a:ext cx="2377440" cy="182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צוות · צוות אקטיביסטים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14135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14135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רוני מרטין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98200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98200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בנימין שיפרין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482265" y="3255264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82265" y="3255264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משה הלר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14135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14135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יהודה שוורצמן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98200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98200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צופיה צדוק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482265" y="365760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82265" y="365760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יצחק פינק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14135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14135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דובי ג'ייקובס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98200" y="405993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98200" y="405993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סתיו רוט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419591" y="4498848"/>
            <a:ext cx="0" cy="20116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3390825" y="4892040"/>
            <a:ext cx="4057533" cy="1563624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230871" y="4700016"/>
            <a:ext cx="2377440" cy="384048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30871" y="4754880"/>
            <a:ext cx="2377440" cy="19970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יהונתן אמתי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30871" y="4911242"/>
            <a:ext cx="2377440" cy="15361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רכז נוער · קבוצת נוער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114135" y="521208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14135" y="521208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אביתר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98200" y="521208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98200" y="521208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אשל לוין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482265" y="5212080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82265" y="5212080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יהודה יאיר שיוביץ'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14135" y="561441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14135" y="561441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יובל גרינברגר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798200" y="561441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98200" y="561441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יוסף גוטויליג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482265" y="5614416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82265" y="5614416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משה הורוביץ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14135" y="6016752"/>
            <a:ext cx="1242783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14135" y="6016752"/>
            <a:ext cx="1242783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שני קולברש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11483" y="2843784"/>
            <a:ext cx="2705022" cy="2459736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75274" y="2615184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5274" y="2670048"/>
            <a:ext cx="2377440" cy="23774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איתמר כהן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5274" y="2866644"/>
            <a:ext cx="2377440" cy="1828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900" b="0">
                <a:solidFill>
                  <a:srgbClr val="FFFFFF"/>
                </a:solidFill>
                <a:latin typeface="Heebo"/>
                <a:cs typeface="Heebo"/>
              </a:rPr>
              <a:t>ראש צוות (טוויטר) · צוות דיגיטל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800570" y="3255264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800570" y="3255264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FFFFFF"/>
                </a:solidFill>
                <a:latin typeface="Heebo"/>
                <a:cs typeface="Heebo"/>
              </a:rPr>
              <a:t>אלטר כהן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00570" y="3446190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FFFFFF"/>
                </a:solidFill>
                <a:latin typeface="Heebo"/>
                <a:cs typeface="Heebo"/>
              </a:rPr>
              <a:t>(אינסטגרם)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02923" y="3255264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923" y="3255264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FFFFFF"/>
                </a:solidFill>
                <a:latin typeface="Heebo"/>
                <a:cs typeface="Heebo"/>
              </a:rPr>
              <a:t>ישראל ציג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923" y="3446190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FFFFFF"/>
                </a:solidFill>
                <a:latin typeface="Heebo"/>
                <a:cs typeface="Heebo"/>
              </a:rPr>
              <a:t>(פייסבוק)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800570" y="3657600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800570" y="3657600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FFFFFF"/>
                </a:solidFill>
                <a:latin typeface="Heebo"/>
                <a:cs typeface="Heebo"/>
              </a:rPr>
              <a:t>מנחם זיבוטפסקי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800570" y="3848526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FFFFFF"/>
                </a:solidFill>
                <a:latin typeface="Heebo"/>
                <a:cs typeface="Heebo"/>
              </a:rPr>
              <a:t>(יוטיוב)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2923" y="3657600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02923" y="3657600"/>
            <a:ext cx="1224495" cy="197510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000" b="1">
                <a:solidFill>
                  <a:srgbClr val="FFFFFF"/>
                </a:solidFill>
                <a:latin typeface="Heebo"/>
                <a:cs typeface="Heebo"/>
              </a:rPr>
              <a:t>יהודה חדאד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923" y="3848526"/>
            <a:ext cx="1224495" cy="131673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800" b="0">
                <a:solidFill>
                  <a:srgbClr val="FFFFFF"/>
                </a:solidFill>
                <a:latin typeface="Heebo"/>
                <a:cs typeface="Heebo"/>
              </a:rPr>
              <a:t>(אתר)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800570" y="4059936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800570" y="4059936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יוסף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02923" y="4059936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3" y="4059936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יהודה הנדלר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800570" y="4462272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800570" y="4462272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יואב קוסטינר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02923" y="4462272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02923" y="4462272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יוסף גוטויליג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800570" y="4864608"/>
            <a:ext cx="1224495" cy="329184"/>
          </a:xfrm>
          <a:prstGeom prst="roundRect">
            <a:avLst>
              <a:gd name="adj" fmla="val 18000"/>
            </a:avLst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800570" y="4864608"/>
            <a:ext cx="1224495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משה הלר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6095847" y="2395728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763994" y="2505456"/>
            <a:ext cx="7987450" cy="0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751444" y="2505456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5419591" y="2505456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763994" y="2505456"/>
            <a:ext cx="0" cy="109728"/>
          </a:xfrm>
          <a:prstGeom prst="line">
            <a:avLst/>
          </a:prstGeom>
          <a:ln w="19050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/>
          <p:cNvSpPr/>
          <p:nvPr/>
        </p:nvSpPr>
        <p:spPr>
          <a:xfrm>
            <a:off x="6565392" y="374904"/>
            <a:ext cx="146304" cy="146304"/>
          </a:xfrm>
          <a:prstGeom prst="ellipse">
            <a:avLst/>
          </a:prstGeom>
          <a:solidFill>
            <a:srgbClr val="2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440680" y="301752"/>
            <a:ext cx="1069848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2 · גבוהה</a:t>
            </a:r>
          </a:p>
        </p:txBody>
      </p:sp>
      <p:sp>
        <p:nvSpPr>
          <p:cNvPr id="143" name="Oval 142"/>
          <p:cNvSpPr/>
          <p:nvPr/>
        </p:nvSpPr>
        <p:spPr>
          <a:xfrm>
            <a:off x="5239512" y="374904"/>
            <a:ext cx="146304" cy="146304"/>
          </a:xfrm>
          <a:prstGeom prst="ellipse">
            <a:avLst/>
          </a:prstGeom>
          <a:solidFill>
            <a:srgbClr val="E8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14800" y="301752"/>
            <a:ext cx="1069848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31 · בינונית</a:t>
            </a:r>
          </a:p>
        </p:txBody>
      </p:sp>
      <p:sp>
        <p:nvSpPr>
          <p:cNvPr id="145" name="Oval 144"/>
          <p:cNvSpPr/>
          <p:nvPr/>
        </p:nvSpPr>
        <p:spPr>
          <a:xfrm>
            <a:off x="3913632" y="374904"/>
            <a:ext cx="146304" cy="146304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788920" y="301752"/>
            <a:ext cx="1069848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1">
                <a:solidFill>
                  <a:srgbClr val="FFFFFF"/>
                </a:solidFill>
                <a:latin typeface="Heebo"/>
                <a:cs typeface="Heebo"/>
              </a:rPr>
              <a:t>15 · נמוכה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מבנה ארגוני מוצע · עבודת הכנסת ה-26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166359" y="1097280"/>
            <a:ext cx="5577840" cy="5577840"/>
          </a:xfrm>
          <a:prstGeom prst="ellipse">
            <a:avLst/>
          </a:prstGeom>
          <a:solidFill>
            <a:srgbClr val="EEF1F7"/>
          </a:solidFill>
          <a:ln w="19050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39" y="1965960"/>
            <a:ext cx="3840480" cy="3840480"/>
          </a:xfrm>
          <a:prstGeom prst="ellipse">
            <a:avLst/>
          </a:prstGeom>
          <a:solidFill>
            <a:srgbClr val="D9E1F0"/>
          </a:solidFill>
          <a:ln w="19050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7999" y="2788920"/>
            <a:ext cx="2194560" cy="2194560"/>
          </a:xfrm>
          <a:prstGeom prst="ellipse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7999" y="3044952"/>
            <a:ext cx="2194560" cy="2194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122755"/>
                </a:solidFill>
                <a:latin typeface="Heebo"/>
                <a:cs typeface="Heebo"/>
              </a:rPr>
              <a:t>הליבה · בשכר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9" y="3246120"/>
            <a:ext cx="219456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800" b="1">
                <a:solidFill>
                  <a:srgbClr val="122755"/>
                </a:solidFill>
                <a:latin typeface="Heebo"/>
                <a:cs typeface="Heebo"/>
              </a:rPr>
              <a:t>צוות הכנסת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39" y="3630168"/>
            <a:ext cx="2011680" cy="2377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22755"/>
                </a:solidFill>
                <a:latin typeface="Heebo"/>
                <a:cs typeface="Heebo"/>
              </a:rPr>
              <a:t>תמיר דורטל · אדם קורגן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39" y="3877056"/>
            <a:ext cx="2011680" cy="2377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22755"/>
                </a:solidFill>
                <a:latin typeface="Heebo"/>
                <a:cs typeface="Heebo"/>
              </a:rPr>
              <a:t>חבר דירקטוריון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4123944"/>
            <a:ext cx="2011680" cy="2377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22755"/>
                </a:solidFill>
                <a:latin typeface="Heebo"/>
                <a:cs typeface="Heebo"/>
              </a:rPr>
              <a:t>נציג רביעי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39" y="4370832"/>
            <a:ext cx="2011680" cy="2377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22755"/>
                </a:solidFill>
                <a:latin typeface="Heebo"/>
                <a:cs typeface="Heebo"/>
              </a:rPr>
              <a:t>+ איש תוכן ותקשורת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3739" y="2112264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3739" y="2148840"/>
            <a:ext cx="1783080" cy="28346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FFFFFF"/>
                </a:solidFill>
                <a:latin typeface="Heebo"/>
                <a:cs typeface="Heebo"/>
              </a:rPr>
              <a:t>צוות מחקר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3739" y="2407066"/>
            <a:ext cx="1783080" cy="23810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ניירות עמדה · טמיר שרגא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1019" y="4818888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1019" y="4855464"/>
            <a:ext cx="1783080" cy="28346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FFFFFF"/>
                </a:solidFill>
                <a:latin typeface="Heebo"/>
                <a:cs typeface="Heebo"/>
              </a:rPr>
              <a:t>צוות דיגיטל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019" y="5113690"/>
            <a:ext cx="1783080" cy="23810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הפצה ברשתות · איתמר כהן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6459" y="4818888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6459" y="4855464"/>
            <a:ext cx="1783080" cy="28346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FFFFFF"/>
                </a:solidFill>
                <a:latin typeface="Heebo"/>
                <a:cs typeface="Heebo"/>
              </a:rPr>
              <a:t>צוות אקטיביסטים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6459" y="5113690"/>
            <a:ext cx="1783080" cy="23810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מצטרפים לנציג · יהונתן יחזקאל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79" y="1225296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3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79" y="1261872"/>
            <a:ext cx="2286000" cy="28346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1C3C7A"/>
                </a:solidFill>
                <a:latin typeface="Heebo"/>
                <a:cs typeface="Heebo"/>
              </a:rPr>
              <a:t>הנהלה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1520098"/>
            <a:ext cx="2286000" cy="23810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1A2233"/>
                </a:solidFill>
                <a:latin typeface="Heebo"/>
                <a:cs typeface="Heebo"/>
              </a:rPr>
              <a:t>מנהל אדם קורגן + מנהל נוסף (לאיוש)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59" y="5596128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3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59" y="5632704"/>
            <a:ext cx="2286000" cy="28346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1C3C7A"/>
                </a:solidFill>
                <a:latin typeface="Heebo"/>
                <a:cs typeface="Heebo"/>
              </a:rPr>
              <a:t>מובילי תחום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59" y="5890930"/>
            <a:ext cx="2286000" cy="23810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1A2233"/>
                </a:solidFill>
                <a:latin typeface="Heebo"/>
                <a:cs typeface="Heebo"/>
              </a:rPr>
              <a:t>אודליה · נגה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199" y="5596128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3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199" y="5632704"/>
            <a:ext cx="2286000" cy="283464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1C3C7A"/>
                </a:solidFill>
                <a:latin typeface="Heebo"/>
                <a:cs typeface="Heebo"/>
              </a:rPr>
              <a:t>יועצים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5890930"/>
            <a:ext cx="2286000" cy="23810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1A2233"/>
                </a:solidFill>
                <a:latin typeface="Heebo"/>
                <a:cs typeface="Heebo"/>
              </a:rPr>
              <a:t>טל קופל · תמר ארבל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1325880"/>
            <a:ext cx="3931920" cy="566928"/>
          </a:xfrm>
          <a:prstGeom prst="roundRect">
            <a:avLst>
              <a:gd name="adj" fmla="val 25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1325880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Heebo"/>
                <a:cs typeface="Heebo"/>
              </a:rPr>
              <a:t>בין 3 ל-4 דיונים בשבוע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2002536"/>
            <a:ext cx="3931920" cy="566928"/>
          </a:xfrm>
          <a:prstGeom prst="roundRect">
            <a:avLst>
              <a:gd name="adj" fmla="val 25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002536"/>
            <a:ext cx="3931920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Heebo"/>
                <a:cs typeface="Heebo"/>
              </a:rPr>
              <a:t>לפחות 2 ימי כנסת מלאים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278892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86200" y="2916936"/>
            <a:ext cx="310896" cy="31089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60" y="2916936"/>
            <a:ext cx="49377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2880360"/>
            <a:ext cx="3273552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D64545"/>
                </a:solidFill>
                <a:latin typeface="Heebo"/>
                <a:cs typeface="Heebo"/>
              </a:rPr>
              <a:t>נציג קבוע בכל דיון: זה מה שבונה אמינות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300984"/>
            <a:ext cx="3657600" cy="8046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1A2233"/>
                </a:solidFill>
                <a:latin typeface="Heebo"/>
                <a:cs typeface="Heebo"/>
              </a:rPr>
              <a:t>אקטיביסט יגיע לדיון לבד רק כשאין בשום אופן נציג אחר. מערך שנשען על מתנדבים יקרוס בחיתוליו, גם תדמיתית וגם אופרטיבית.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29768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86200" y="4425696"/>
            <a:ext cx="310896" cy="310896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4425696"/>
            <a:ext cx="493776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389120"/>
            <a:ext cx="3273552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D64545"/>
                </a:solidFill>
                <a:latin typeface="Heebo"/>
                <a:cs typeface="Heebo"/>
              </a:rPr>
              <a:t>איש התוכן: חלק מהצוות, לא ספק חיצוני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9744"/>
            <a:ext cx="3657600" cy="8046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1A2233"/>
                </a:solidFill>
                <a:latin typeface="Heebo"/>
                <a:cs typeface="Heebo"/>
              </a:rPr>
              <a:t>רק מי שלוקח חלק פעיל בסדר היום יכול להפוך כל דיון בכנסת לחשיפה: מהר, מדויק ואמין.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תוכניות כנסת 26 · תמיר דורטל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"/>
            <a:ext cx="1051560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F0C000"/>
                </a:solidFill>
                <a:latin typeface="Heebo"/>
                <a:cs typeface="Heebo"/>
              </a:rPr>
              <a:t>מייסד · כלכלה, רגולציה וביטחון אישי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1234440"/>
            <a:ext cx="1136873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7063" y="1325880"/>
            <a:ext cx="54864" cy="182880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94415" y="2011680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2975" y="2011680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756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75688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ביטחון אישי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234440"/>
            <a:ext cx="8534095" cy="20116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400" b="1">
                <a:solidFill>
                  <a:srgbClr val="1A2233"/>
                </a:solidFill>
                <a:latin typeface="Heebo"/>
                <a:cs typeface="Heebo"/>
              </a:rPr>
              <a:t>רפורמת נשק ארוך: לאפשר לאזרחים לרכוש נשק ארוך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92424"/>
            <a:ext cx="1136873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7063" y="3483864"/>
            <a:ext cx="54864" cy="182880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94415" y="4169664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2975" y="4169664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336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33672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רגולציה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92424"/>
            <a:ext cx="8534095" cy="20116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400" b="1">
                <a:solidFill>
                  <a:srgbClr val="1A2233"/>
                </a:solidFill>
                <a:latin typeface="Heebo"/>
                <a:cs typeface="Heebo"/>
              </a:rPr>
              <a:t>אישור נהיגה אוטונומית של טסלה בישראל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תוכניות כנסת 26 · עו״ד אודליה קדמי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"/>
            <a:ext cx="1051560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F0C000"/>
                </a:solidFill>
                <a:latin typeface="Heebo"/>
                <a:cs typeface="Heebo"/>
              </a:rPr>
              <a:t>ביטחון אישי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1234440"/>
            <a:ext cx="1136873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7063" y="1325880"/>
            <a:ext cx="54864" cy="182880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94415" y="2011680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2975" y="2011680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756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75688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ביטחון אישי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234440"/>
            <a:ext cx="8534095" cy="20116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400" b="1">
                <a:solidFill>
                  <a:srgbClr val="1A2233"/>
                </a:solidFill>
                <a:latin typeface="Heebo"/>
                <a:cs typeface="Heebo"/>
              </a:rPr>
              <a:t>הקמת שדולה בכנסת למען האזרח החמוש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92424"/>
            <a:ext cx="1136873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7063" y="3483864"/>
            <a:ext cx="54864" cy="182880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94415" y="4169664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2975" y="4169664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336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33672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כוחות הביטחון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92424"/>
            <a:ext cx="8534095" cy="20116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400" b="1">
                <a:solidFill>
                  <a:srgbClr val="1A2233"/>
                </a:solidFill>
                <a:latin typeface="Heebo"/>
                <a:cs typeface="Heebo"/>
              </a:rPr>
              <a:t>קידום חוק חסינות למשרתי ומתנדבי כוחות הביטחון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תוכניות כנסת 26 · נגה ארבל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"/>
            <a:ext cx="1051560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F0C000"/>
                </a:solidFill>
                <a:latin typeface="Heebo"/>
                <a:cs typeface="Heebo"/>
              </a:rPr>
              <a:t>חקיקה · ביטחון אישי ולאומי, ריבונות, צה״ל וחינוך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69000" y="1234440"/>
            <a:ext cx="561121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7063" y="1325880"/>
            <a:ext cx="54864" cy="82296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22431" y="1572768"/>
            <a:ext cx="329184" cy="329184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30991" y="1572768"/>
            <a:ext cx="512064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1880" y="16002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80" y="1600200"/>
            <a:ext cx="1325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900" b="1">
                <a:solidFill>
                  <a:srgbClr val="1C3C7A"/>
                </a:solidFill>
                <a:latin typeface="Heebo"/>
                <a:cs typeface="Heebo"/>
              </a:rPr>
              <a:t>ביטחון אישי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9200" y="1234440"/>
            <a:ext cx="3316071" cy="10058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חוק הגנה עצמית: זכות יסוד, בדומה לארה״ב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9000" y="2386584"/>
            <a:ext cx="561121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7063" y="2478024"/>
            <a:ext cx="54864" cy="82296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22431" y="2724912"/>
            <a:ext cx="329184" cy="329184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30991" y="2724912"/>
            <a:ext cx="512064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1880" y="275234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1880" y="2752344"/>
            <a:ext cx="1325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900" b="1">
                <a:solidFill>
                  <a:srgbClr val="1C3C7A"/>
                </a:solidFill>
                <a:latin typeface="Heebo"/>
                <a:cs typeface="Heebo"/>
              </a:rPr>
              <a:t>טכנולוגיה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9200" y="2386584"/>
            <a:ext cx="3316071" cy="10058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הגנה ברשת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9000" y="3538728"/>
            <a:ext cx="561121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07063" y="3630168"/>
            <a:ext cx="54864" cy="82296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22431" y="3877056"/>
            <a:ext cx="329184" cy="329184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0991" y="3877056"/>
            <a:ext cx="512064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1880" y="390448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80" y="3904488"/>
            <a:ext cx="1325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900" b="1">
                <a:solidFill>
                  <a:srgbClr val="1C3C7A"/>
                </a:solidFill>
                <a:latin typeface="Heebo"/>
                <a:cs typeface="Heebo"/>
              </a:rPr>
              <a:t>ביטחון לאומי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9200" y="3538728"/>
            <a:ext cx="3316071" cy="10058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ביטוח לאומי: איסור על העברת כספים לחו״ל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1" y="1234440"/>
            <a:ext cx="561121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9544" y="1325880"/>
            <a:ext cx="54864" cy="82296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64912" y="1572768"/>
            <a:ext cx="329184" cy="329184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3472" y="1572768"/>
            <a:ext cx="512064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1" y="16002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1" y="1600200"/>
            <a:ext cx="1325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900" b="1">
                <a:solidFill>
                  <a:srgbClr val="1C3C7A"/>
                </a:solidFill>
                <a:latin typeface="Heebo"/>
                <a:cs typeface="Heebo"/>
              </a:rPr>
              <a:t>צה״ל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1" y="1234440"/>
            <a:ext cx="3316071" cy="10058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רוח צה״ל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1" y="2386584"/>
            <a:ext cx="561121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9544" y="2478024"/>
            <a:ext cx="54864" cy="82296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464912" y="2724912"/>
            <a:ext cx="329184" cy="329184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3472" y="2724912"/>
            <a:ext cx="512064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1" y="275234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1" y="2752344"/>
            <a:ext cx="1325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900" b="1">
                <a:solidFill>
                  <a:srgbClr val="1C3C7A"/>
                </a:solidFill>
                <a:latin typeface="Heebo"/>
                <a:cs typeface="Heebo"/>
              </a:rPr>
              <a:t>חינוך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1" y="2386584"/>
            <a:ext cx="3316071" cy="10058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מדדים בחינוך: המלצות מדיניות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1" y="3538728"/>
            <a:ext cx="5611215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9544" y="3630168"/>
            <a:ext cx="54864" cy="822960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64912" y="3877056"/>
            <a:ext cx="329184" cy="329184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73472" y="3877056"/>
            <a:ext cx="512064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1" y="390448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1" y="3904488"/>
            <a:ext cx="1325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900" b="1">
                <a:solidFill>
                  <a:srgbClr val="1C3C7A"/>
                </a:solidFill>
                <a:latin typeface="Heebo"/>
                <a:cs typeface="Heebo"/>
              </a:rPr>
              <a:t>ריבונות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1" y="3538728"/>
            <a:ext cx="3316071" cy="10058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חוק למניעת כפיפות לאמנות בינלאומיות ללא אישור הכנסת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תוכניות כנסת 26 · טל קופל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"/>
            <a:ext cx="1051560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F0C000"/>
                </a:solidFill>
                <a:latin typeface="Heebo"/>
                <a:cs typeface="Heebo"/>
              </a:rPr>
              <a:t>אתיקה, חינוך והתיישבות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1234440"/>
            <a:ext cx="11368735" cy="9345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7063" y="1325880"/>
            <a:ext cx="54864" cy="75163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94415" y="1473098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2975" y="1473098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53710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37106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התיישבות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234440"/>
            <a:ext cx="8534095" cy="9345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600" b="1">
                <a:solidFill>
                  <a:srgbClr val="1A2233"/>
                </a:solidFill>
                <a:latin typeface="Heebo"/>
                <a:cs typeface="Heebo"/>
              </a:rPr>
              <a:t>ייהוד הגליל והנגב וגרעיני נח״ל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315260"/>
            <a:ext cx="11368735" cy="9345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7063" y="2406700"/>
            <a:ext cx="54864" cy="75163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94415" y="2553918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2975" y="2553918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61792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17926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זהות יהודית בצה״ל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315260"/>
            <a:ext cx="8534095" cy="9345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600" b="1">
                <a:solidFill>
                  <a:srgbClr val="1A2233"/>
                </a:solidFill>
                <a:latin typeface="Heebo"/>
                <a:cs typeface="Heebo"/>
              </a:rPr>
              <a:t>קוד אתי חדש וחיל חינוך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396080"/>
            <a:ext cx="11368735" cy="9345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07063" y="3487520"/>
            <a:ext cx="54864" cy="75163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415" y="3634738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02975" y="3634738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9874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698746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מילואים וגבורה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396080"/>
            <a:ext cx="8534095" cy="9345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600" b="1">
                <a:solidFill>
                  <a:srgbClr val="1A2233"/>
                </a:solidFill>
                <a:latin typeface="Heebo"/>
                <a:cs typeface="Heebo"/>
              </a:rPr>
              <a:t>תגמול המילואים ושדולת הגבורה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476900"/>
            <a:ext cx="11368735" cy="9345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707063" y="4568340"/>
            <a:ext cx="54864" cy="75163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94415" y="4715558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02975" y="4715558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77956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779566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זהות בחינוך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476900"/>
            <a:ext cx="8534095" cy="9345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600" b="1">
                <a:solidFill>
                  <a:srgbClr val="1A2233"/>
                </a:solidFill>
                <a:latin typeface="Heebo"/>
                <a:cs typeface="Heebo"/>
              </a:rPr>
              <a:t>חוק חינוך ממלכתי, תנ״ך, היסטוריה וחינוך ביתי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5557720"/>
            <a:ext cx="11368735" cy="9345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707063" y="5649160"/>
            <a:ext cx="54864" cy="75163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94415" y="5796378"/>
            <a:ext cx="457200" cy="457200"/>
          </a:xfrm>
          <a:prstGeom prst="ellipse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02975" y="5796378"/>
            <a:ext cx="64008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86038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5875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860386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אקדמיה ומחקר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557720"/>
            <a:ext cx="8534095" cy="93451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600" b="1">
                <a:solidFill>
                  <a:srgbClr val="1A2233"/>
                </a:solidFill>
                <a:latin typeface="Heebo"/>
                <a:cs typeface="Heebo"/>
              </a:rPr>
              <a:t>הפרדת ות״ת מהמל״ג ומוסד מחקר לאומי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פעילות כנסת · שבוע עבודה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87288" y="1143000"/>
            <a:ext cx="5592927" cy="868680"/>
          </a:xfrm>
          <a:prstGeom prst="roundRect">
            <a:avLst>
              <a:gd name="adj" fmla="val 14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7288" y="1234440"/>
            <a:ext cx="5592927" cy="43891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2200" b="1">
                <a:solidFill>
                  <a:srgbClr val="FFFFFF"/>
                </a:solidFill>
                <a:latin typeface="Heebo"/>
                <a:cs typeface="Heebo"/>
              </a:rPr>
              <a:t>בין 3 ל-4 דיונים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288" y="1691640"/>
            <a:ext cx="5592927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200" b="0">
                <a:solidFill>
                  <a:srgbClr val="F0C000"/>
                </a:solidFill>
                <a:latin typeface="Heebo"/>
                <a:cs typeface="Heebo"/>
              </a:rPr>
              <a:t>בכל שבוע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1" y="1143000"/>
            <a:ext cx="5592927" cy="868680"/>
          </a:xfrm>
          <a:prstGeom prst="roundRect">
            <a:avLst>
              <a:gd name="adj" fmla="val 14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1" y="1234440"/>
            <a:ext cx="5592927" cy="438912"/>
          </a:xfrm>
          <a:prstGeom prst="rect">
            <a:avLst/>
          </a:prstGeom>
          <a:noFill/>
        </p:spPr>
        <p:txBody>
          <a:bodyPr wrap="square" anchor="b" lIns="36576" rIns="36576" tIns="0" bIns="0">
            <a:spAutoFit/>
          </a:bodyPr>
          <a:lstStyle/>
          <a:p>
            <a:pPr algn="ctr" rtl="1"/>
            <a:r>
              <a:rPr sz="2200" b="1">
                <a:solidFill>
                  <a:srgbClr val="FFFFFF"/>
                </a:solidFill>
                <a:latin typeface="Heebo"/>
                <a:cs typeface="Heebo"/>
              </a:rPr>
              <a:t>לפחות 2 ימי כנסת מלאים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1" y="1691640"/>
            <a:ext cx="5592927" cy="2560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200" b="0">
                <a:solidFill>
                  <a:srgbClr val="F0C000"/>
                </a:solidFill>
                <a:latin typeface="Heebo"/>
                <a:cs typeface="Heebo"/>
              </a:rPr>
              <a:t>דיונים, פגישות ושיחות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8881" y="2194560"/>
            <a:ext cx="2171334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8881" y="2286000"/>
            <a:ext cx="2171334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8A94A8"/>
                </a:solidFill>
                <a:latin typeface="Heebo"/>
                <a:cs typeface="Heebo"/>
              </a:rPr>
              <a:t>ראשון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0321" y="2542032"/>
            <a:ext cx="1988454" cy="4114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500" b="1">
                <a:solidFill>
                  <a:srgbClr val="1C3C7A"/>
                </a:solidFill>
                <a:latin typeface="Heebo"/>
                <a:cs typeface="Heebo"/>
              </a:rPr>
              <a:t>הכנה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0321" y="2944368"/>
            <a:ext cx="1988454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דיון במידה ויש · צוות המחקר מכין ניירות ותדריך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9531" y="2194560"/>
            <a:ext cx="2171334" cy="1188720"/>
          </a:xfrm>
          <a:prstGeom prst="roundRect">
            <a:avLst>
              <a:gd name="adj" fmla="val 1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9531" y="2286000"/>
            <a:ext cx="2171334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22755"/>
                </a:solidFill>
                <a:latin typeface="Heebo"/>
                <a:cs typeface="Heebo"/>
              </a:rPr>
              <a:t>שני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971" y="2542032"/>
            <a:ext cx="1988454" cy="4114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500" b="1">
                <a:solidFill>
                  <a:srgbClr val="122755"/>
                </a:solidFill>
                <a:latin typeface="Heebo"/>
                <a:cs typeface="Heebo"/>
              </a:rPr>
              <a:t>דיונים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0971" y="2944368"/>
            <a:ext cx="1988454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22755"/>
                </a:solidFill>
                <a:latin typeface="Heebo"/>
                <a:cs typeface="Heebo"/>
              </a:rPr>
              <a:t>בוועדות הכנסת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181" y="2194560"/>
            <a:ext cx="2171334" cy="1188720"/>
          </a:xfrm>
          <a:prstGeom prst="roundRect">
            <a:avLst>
              <a:gd name="adj" fmla="val 1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181" y="2286000"/>
            <a:ext cx="2171334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22755"/>
                </a:solidFill>
                <a:latin typeface="Heebo"/>
                <a:cs typeface="Heebo"/>
              </a:rPr>
              <a:t>שלישי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1621" y="2542032"/>
            <a:ext cx="1988454" cy="4114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500" b="1">
                <a:solidFill>
                  <a:srgbClr val="122755"/>
                </a:solidFill>
                <a:latin typeface="Heebo"/>
                <a:cs typeface="Heebo"/>
              </a:rPr>
              <a:t>דיונים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1621" y="2944368"/>
            <a:ext cx="1988454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22755"/>
                </a:solidFill>
                <a:latin typeface="Heebo"/>
                <a:cs typeface="Heebo"/>
              </a:rPr>
              <a:t>בוועדות הכנסת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0831" y="2194560"/>
            <a:ext cx="2171334" cy="1188720"/>
          </a:xfrm>
          <a:prstGeom prst="roundRect">
            <a:avLst>
              <a:gd name="adj" fmla="val 1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0831" y="2286000"/>
            <a:ext cx="2171334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22755"/>
                </a:solidFill>
                <a:latin typeface="Heebo"/>
                <a:cs typeface="Heebo"/>
              </a:rPr>
              <a:t>רביעי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2271" y="2542032"/>
            <a:ext cx="1988454" cy="4114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500" b="1">
                <a:solidFill>
                  <a:srgbClr val="122755"/>
                </a:solidFill>
                <a:latin typeface="Heebo"/>
                <a:cs typeface="Heebo"/>
              </a:rPr>
              <a:t>דיונים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2271" y="2944368"/>
            <a:ext cx="1988454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22755"/>
                </a:solidFill>
                <a:latin typeface="Heebo"/>
                <a:cs typeface="Heebo"/>
              </a:rPr>
              <a:t>בוועדות הכנסת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1" y="2194560"/>
            <a:ext cx="2171334" cy="1188720"/>
          </a:xfrm>
          <a:prstGeom prst="roundRect">
            <a:avLst>
              <a:gd name="adj" fmla="val 1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1" y="2286000"/>
            <a:ext cx="2171334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22755"/>
                </a:solidFill>
                <a:latin typeface="Heebo"/>
                <a:cs typeface="Heebo"/>
              </a:rPr>
              <a:t>חמישי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1" y="2542032"/>
            <a:ext cx="1988454" cy="4114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500" b="1">
                <a:solidFill>
                  <a:srgbClr val="122755"/>
                </a:solidFill>
                <a:latin typeface="Heebo"/>
                <a:cs typeface="Heebo"/>
              </a:rPr>
              <a:t>דיונים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1" y="2944368"/>
            <a:ext cx="1988454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 rtl="1"/>
            <a:r>
              <a:rPr sz="1100" b="0">
                <a:solidFill>
                  <a:srgbClr val="122755"/>
                </a:solidFill>
                <a:latin typeface="Heebo"/>
                <a:cs typeface="Heebo"/>
              </a:rPr>
              <a:t>בוועדות הכנסת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1" y="3474720"/>
            <a:ext cx="4470684" cy="566928"/>
          </a:xfrm>
          <a:prstGeom prst="roundRect">
            <a:avLst>
              <a:gd name="adj" fmla="val 18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1" y="3511296"/>
            <a:ext cx="4196364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FFFFFF"/>
                </a:solidFill>
                <a:latin typeface="Heebo"/>
                <a:cs typeface="Heebo"/>
              </a:rPr>
              <a:t>קביעת סדר היום לשבוע הבא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1" y="3767328"/>
            <a:ext cx="4196364" cy="23774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העברה לצוות המחקר ושיבוץ לדיונים · לא יאוחר מחמישי בבוקר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8" y="4160520"/>
            <a:ext cx="5592927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0168" y="4270248"/>
            <a:ext cx="5227167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600" b="1">
                <a:solidFill>
                  <a:srgbClr val="1C3C7A"/>
                </a:solidFill>
                <a:latin typeface="Heebo"/>
                <a:cs typeface="Heebo"/>
              </a:rPr>
              <a:t>מי הולך לכנסת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59124" y="4709160"/>
            <a:ext cx="1238211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533327" y="4782312"/>
            <a:ext cx="45720" cy="35661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59124" y="4709160"/>
            <a:ext cx="1238211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תמיר דורטל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9473" y="4709160"/>
            <a:ext cx="1238211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03676" y="4782312"/>
            <a:ext cx="45720" cy="35661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9473" y="4709160"/>
            <a:ext cx="1238211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אדם קורגן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9822" y="4709160"/>
            <a:ext cx="1238211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74025" y="4782312"/>
            <a:ext cx="45720" cy="356616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822" y="4709160"/>
            <a:ext cx="1238211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חבר דירקטוריון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0171" y="4709160"/>
            <a:ext cx="1238211" cy="50292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0C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0171" y="4709160"/>
            <a:ext cx="1238211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1C3C7A"/>
                </a:solidFill>
                <a:latin typeface="Heebo"/>
                <a:cs typeface="Heebo"/>
              </a:rPr>
              <a:t>נציג רביעי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168" y="5349240"/>
            <a:ext cx="5227167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8A94A8"/>
                </a:solidFill>
                <a:latin typeface="Heebo"/>
                <a:cs typeface="Heebo"/>
              </a:rPr>
              <a:t>נציג רביעי: איש קבוע. תפקיד חדש, או בשילוב עם איש התוכן או המנהל הנוסף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70168" y="5760720"/>
            <a:ext cx="5227167" cy="64008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1608" y="5760720"/>
            <a:ext cx="5044287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+ אקטיביסטים משלימים חורים ומצטרפים לנציג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4160520"/>
            <a:ext cx="5592927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270248"/>
            <a:ext cx="5227167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600" b="1">
                <a:solidFill>
                  <a:srgbClr val="1C3C7A"/>
                </a:solidFill>
                <a:latin typeface="Heebo"/>
                <a:cs typeface="Heebo"/>
              </a:rPr>
              <a:t>איש תוכן ותקשורת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4617720"/>
            <a:ext cx="5227167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8A94A8"/>
                </a:solidFill>
                <a:latin typeface="Heebo"/>
                <a:cs typeface="Heebo"/>
              </a:rPr>
              <a:t>משרה חלקית בכח התערבות · אפשר בשילוב עם 'על המשמעות'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074920"/>
            <a:ext cx="5135727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500" b="1">
                <a:solidFill>
                  <a:srgbClr val="1A2233"/>
                </a:solidFill>
                <a:latin typeface="Heebo"/>
                <a:cs typeface="Heebo"/>
              </a:rPr>
              <a:t>• לוקח חלק פעיל בסדר היום של הארגון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623560"/>
            <a:ext cx="5135727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500" b="1">
                <a:solidFill>
                  <a:srgbClr val="1A2233"/>
                </a:solidFill>
                <a:latin typeface="Heebo"/>
                <a:cs typeface="Heebo"/>
              </a:rPr>
              <a:t>• איתו בונים את החשיפה בתקשורת וברשתות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שלב א׳ · שינוי מבני, בלי לגעת בשכר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40680" y="1188720"/>
            <a:ext cx="6339535" cy="384048"/>
          </a:xfrm>
          <a:prstGeom prst="roundRect">
            <a:avLst>
              <a:gd name="adj" fmla="val 20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188720"/>
            <a:ext cx="3413455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תפקיד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188720"/>
            <a:ext cx="1280160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לחודש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188720"/>
            <a:ext cx="1371600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שינוי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664208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64208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מנהל · אדם קורגן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664208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10,000 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7739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773936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ללא שינוי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249424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249424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מנהל · חצי משרה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49424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5,000 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35915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359152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ללא שינוי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2834640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834640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מנהל תוכן · חצי משרה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40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5,000 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29443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944368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ללא שינוי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3419856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419856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חברי דירקטוריון · 2 דיונים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419856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750 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352958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529584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במקום נציג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4005072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005072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אקטיביסטים · 2 דיונים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005072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בהתנדבות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41148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4114800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חדש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0680" y="4590288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590288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תמיר דורטל · 4 דיונים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590288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470001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700016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בעלים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80" y="5230368"/>
            <a:ext cx="6339535" cy="457200"/>
          </a:xfrm>
          <a:prstGeom prst="roundRect">
            <a:avLst>
              <a:gd name="adj" fmla="val 3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5230368"/>
            <a:ext cx="5973775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122755"/>
                </a:solidFill>
                <a:latin typeface="Heebo"/>
                <a:cs typeface="Heebo"/>
              </a:rPr>
              <a:t>תגמול ליום כנסת: 300 ₪ חצי יום · 450 ₪ יום מלא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1188720"/>
            <a:ext cx="4754880" cy="2331720"/>
          </a:xfrm>
          <a:prstGeom prst="roundRect">
            <a:avLst>
              <a:gd name="adj" fmla="val 6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1325880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300" b="0">
                <a:solidFill>
                  <a:srgbClr val="F0C000"/>
                </a:solidFill>
                <a:latin typeface="Heebo"/>
                <a:cs typeface="Heebo"/>
              </a:rPr>
              <a:t>עלות חודשית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1600200"/>
            <a:ext cx="4754880" cy="7315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Heebo"/>
                <a:cs typeface="Heebo"/>
              </a:rPr>
              <a:t>20,750 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2304288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300" b="0">
                <a:solidFill>
                  <a:srgbClr val="FFFFFF"/>
                </a:solidFill>
                <a:latin typeface="Heebo"/>
                <a:cs typeface="Heebo"/>
              </a:rPr>
              <a:t>249,000 ₪ בשנה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697480"/>
            <a:ext cx="4389120" cy="658368"/>
          </a:xfrm>
          <a:prstGeom prst="roundRect">
            <a:avLst>
              <a:gd name="adj" fmla="val 15000"/>
            </a:avLst>
          </a:prstGeom>
          <a:solidFill>
            <a:srgbClr val="2A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2715768"/>
            <a:ext cx="438912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700" b="1">
                <a:solidFill>
                  <a:srgbClr val="FFFFFF"/>
                </a:solidFill>
                <a:latin typeface="Heebo"/>
                <a:cs typeface="Heebo"/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3054096"/>
            <a:ext cx="4389120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דיונים בחודש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3703320"/>
            <a:ext cx="4754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3813048"/>
            <a:ext cx="4389120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מה משתנה בשלב הזה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434840"/>
            <a:ext cx="429768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1A2233"/>
                </a:solidFill>
                <a:latin typeface="Heebo"/>
                <a:cs typeface="Heebo"/>
              </a:rPr>
              <a:t>• אין נציג 4: הדיונים מתחלקים בין הצוות, הדירקטוריון והאקטיביסטים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056632"/>
            <a:ext cx="429768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 rtl="1"/>
            <a:r>
              <a:rPr sz="1200" b="0">
                <a:solidFill>
                  <a:srgbClr val="1A2233"/>
                </a:solidFill>
                <a:latin typeface="Heebo"/>
                <a:cs typeface="Heebo"/>
              </a:rPr>
              <a:t>• סדר היום לשבוע הבא נסגר עד חמישי בבוקר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שלב ב׳ · שכר מספק למערך מלא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40680" y="1188720"/>
            <a:ext cx="6339535" cy="384048"/>
          </a:xfrm>
          <a:prstGeom prst="roundRect">
            <a:avLst>
              <a:gd name="adj" fmla="val 20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188720"/>
            <a:ext cx="3413455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תפקיד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188720"/>
            <a:ext cx="1280160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לחודש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188720"/>
            <a:ext cx="1371600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Heebo"/>
                <a:cs typeface="Heebo"/>
              </a:rPr>
              <a:t>שינוי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664208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64208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מנהל · אדם קורגן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664208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15,000 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77393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773936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000" b="1">
                <a:solidFill>
                  <a:srgbClr val="122755"/>
                </a:solidFill>
                <a:latin typeface="Heebo"/>
                <a:cs typeface="Heebo"/>
              </a:rPr>
              <a:t>+5,000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249424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249424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מנהל · חצי משרה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49424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7,000 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35915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359152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000" b="1">
                <a:solidFill>
                  <a:srgbClr val="122755"/>
                </a:solidFill>
                <a:latin typeface="Heebo"/>
                <a:cs typeface="Heebo"/>
              </a:rPr>
              <a:t>+2,000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2834640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834640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מנהל תוכן · חצי משרה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40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6,000 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29443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944368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0"/>
            <a:r>
              <a:rPr sz="1000" b="1">
                <a:solidFill>
                  <a:srgbClr val="122755"/>
                </a:solidFill>
                <a:latin typeface="Heebo"/>
                <a:cs typeface="Heebo"/>
              </a:rPr>
              <a:t>+1,000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3419856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419856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נציג 3 · 4 דיונים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419856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1,800 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352958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529584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תעריף מלא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4005072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005072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נציג 4 · 4 דיונים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005072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1,800 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41148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4114800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חוזר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0680" y="4590288"/>
            <a:ext cx="6339535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590288"/>
            <a:ext cx="3322015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300" b="1">
                <a:solidFill>
                  <a:srgbClr val="1A2233"/>
                </a:solidFill>
                <a:latin typeface="Heebo"/>
                <a:cs typeface="Heebo"/>
              </a:rPr>
              <a:t>תמיר דורטל · 4 דיונים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590288"/>
            <a:ext cx="1280160" cy="51206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400" b="1">
                <a:solidFill>
                  <a:srgbClr val="1C3C7A"/>
                </a:solidFill>
                <a:latin typeface="Heebo"/>
                <a:cs typeface="Heebo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470001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4700016"/>
            <a:ext cx="1234440" cy="29260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בעלים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80" y="5230368"/>
            <a:ext cx="6339535" cy="457200"/>
          </a:xfrm>
          <a:prstGeom prst="roundRect">
            <a:avLst>
              <a:gd name="adj" fmla="val 30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5230368"/>
            <a:ext cx="5973775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300" b="1">
                <a:solidFill>
                  <a:srgbClr val="122755"/>
                </a:solidFill>
                <a:latin typeface="Heebo"/>
                <a:cs typeface="Heebo"/>
              </a:rPr>
              <a:t>תגמול ליום כנסת: 400 ₪ חצי יום · 600 ₪ יום מלא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1188720"/>
            <a:ext cx="4754880" cy="2331720"/>
          </a:xfrm>
          <a:prstGeom prst="roundRect">
            <a:avLst>
              <a:gd name="adj" fmla="val 6000"/>
            </a:avLst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1325880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300" b="0">
                <a:solidFill>
                  <a:srgbClr val="F0C000"/>
                </a:solidFill>
                <a:latin typeface="Heebo"/>
                <a:cs typeface="Heebo"/>
              </a:rPr>
              <a:t>עלות חודשית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1600200"/>
            <a:ext cx="4754880" cy="7315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4400" b="1">
                <a:solidFill>
                  <a:srgbClr val="FFFFFF"/>
                </a:solidFill>
                <a:latin typeface="Heebo"/>
                <a:cs typeface="Heebo"/>
              </a:rPr>
              <a:t>31,600 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2304288"/>
            <a:ext cx="4754880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300" b="0">
                <a:solidFill>
                  <a:srgbClr val="FFFFFF"/>
                </a:solidFill>
                <a:latin typeface="Heebo"/>
                <a:cs typeface="Heebo"/>
              </a:rPr>
              <a:t>379,200 ₪ בשנה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697480"/>
            <a:ext cx="4389120" cy="658368"/>
          </a:xfrm>
          <a:prstGeom prst="roundRect">
            <a:avLst>
              <a:gd name="adj" fmla="val 15000"/>
            </a:avLst>
          </a:prstGeom>
          <a:solidFill>
            <a:srgbClr val="2A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2715768"/>
            <a:ext cx="4389120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700" b="1">
                <a:solidFill>
                  <a:srgbClr val="FFFFFF"/>
                </a:solidFill>
                <a:latin typeface="Heebo"/>
                <a:cs typeface="Heebo"/>
              </a:rPr>
              <a:t>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3054096"/>
            <a:ext cx="4389120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דיונים בחודש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3703320"/>
            <a:ext cx="47548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3813048"/>
            <a:ext cx="4389120" cy="56692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500" b="1">
                <a:solidFill>
                  <a:srgbClr val="1C3C7A"/>
                </a:solidFill>
                <a:latin typeface="Heebo"/>
                <a:cs typeface="Heebo"/>
              </a:rPr>
              <a:t>שכר מספק הוא השקעה, לא הוצאה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434840"/>
            <a:ext cx="429768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• מי שמתפרנס מהתפקיד מתחייב אליו: מגיע לכל דיון, מוכן, ולאורך זמן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056632"/>
            <a:ext cx="429768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• פחות תחלופה = פחות חפיפות, ויותר היכרות אישית עם חברי הכנסת והיועצים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78424"/>
            <a:ext cx="429768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 rtl="1"/>
            <a:r>
              <a:rPr sz="1200" b="1">
                <a:solidFill>
                  <a:srgbClr val="1A2233"/>
                </a:solidFill>
                <a:latin typeface="Heebo"/>
                <a:cs typeface="Heebo"/>
              </a:rPr>
              <a:t>• דיון שחסכנו עליו עולה מעט. דיון שפספסנו עולה בחוק שעבר בלעדינו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C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2600" b="1">
                <a:solidFill>
                  <a:srgbClr val="FFFFFF"/>
                </a:solidFill>
                <a:latin typeface="Heebo"/>
                <a:cs typeface="Heebo"/>
              </a:rPr>
              <a:t>הוצאות · שלושה מודלים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" y="54864"/>
            <a:ext cx="91055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800822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43037" y="1188720"/>
            <a:ext cx="363717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F0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43037" y="1188720"/>
            <a:ext cx="3637178" cy="868680"/>
          </a:xfrm>
          <a:prstGeom prst="roundRect">
            <a:avLst>
              <a:gd name="adj" fmla="val 12000"/>
            </a:avLst>
          </a:prstGeom>
          <a:solidFill>
            <a:srgbClr val="F0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43037" y="1280160"/>
            <a:ext cx="3637178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2000" b="1">
                <a:solidFill>
                  <a:srgbClr val="122755"/>
                </a:solidFill>
                <a:latin typeface="Heebo"/>
                <a:cs typeface="Heebo"/>
              </a:rPr>
              <a:t>מודל אידיאלי התחלתי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4477" y="1664208"/>
            <a:ext cx="345429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122755"/>
                </a:solidFill>
                <a:latin typeface="Heebo"/>
                <a:cs typeface="Heebo"/>
              </a:rPr>
              <a:t>צוות מלא בשכר מספק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3037" y="2148840"/>
            <a:ext cx="3637178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3600" b="1">
                <a:solidFill>
                  <a:srgbClr val="1C3C7A"/>
                </a:solidFill>
                <a:latin typeface="Heebo"/>
                <a:cs typeface="Heebo"/>
              </a:rPr>
              <a:t>31,600 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3037" y="2743200"/>
            <a:ext cx="3637178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0">
                <a:solidFill>
                  <a:srgbClr val="8A94A8"/>
                </a:solidFill>
                <a:latin typeface="Heebo"/>
                <a:cs typeface="Heebo"/>
              </a:rPr>
              <a:t>לחודש · 379,200 ₪ בשנה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5917" y="3108960"/>
            <a:ext cx="3271418" cy="658368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5917" y="3136392"/>
            <a:ext cx="3271418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700" b="1">
                <a:solidFill>
                  <a:srgbClr val="1C3C7A"/>
                </a:solidFill>
                <a:latin typeface="Heebo"/>
                <a:cs typeface="Heebo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7" y="3474720"/>
            <a:ext cx="3271418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דיונים בחודש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7477" y="393192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· אדם קורגן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7" y="393192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15,000 ₪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5917" y="427024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77477" y="429768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· חצי משרה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197" y="429768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7,000 ₪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5917" y="463600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77477" y="466344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תוכן · חצי משרה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197" y="466344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6,000 ₪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5917" y="500176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77477" y="502920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נציג 3 · 4 דיונים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197" y="502920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1,800 ₪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5917" y="536752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77477" y="539496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נציג 4 · 4 דיונים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7" y="539496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1,800 ₪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5917" y="573328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25917" y="5806440"/>
            <a:ext cx="3271418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תעריף: 400 ₪ חצי יום · 600 ₪ יום מלא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7259" y="1188720"/>
            <a:ext cx="363717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77259" y="1188720"/>
            <a:ext cx="3637178" cy="868680"/>
          </a:xfrm>
          <a:prstGeom prst="roundRect">
            <a:avLst>
              <a:gd name="adj" fmla="val 12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7259" y="1280160"/>
            <a:ext cx="3637178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2000" b="1">
                <a:solidFill>
                  <a:srgbClr val="FFFFFF"/>
                </a:solidFill>
                <a:latin typeface="Heebo"/>
                <a:cs typeface="Heebo"/>
              </a:rPr>
              <a:t>מודל ביניים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8699" y="1664208"/>
            <a:ext cx="345429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בלי נציג 4 · דירקטוריון ואקטיביסטים משלימים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7259" y="2148840"/>
            <a:ext cx="3637178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3600" b="1">
                <a:solidFill>
                  <a:srgbClr val="1C3C7A"/>
                </a:solidFill>
                <a:latin typeface="Heebo"/>
                <a:cs typeface="Heebo"/>
              </a:rPr>
              <a:t>23,050 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7259" y="2743200"/>
            <a:ext cx="3637178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0">
                <a:solidFill>
                  <a:srgbClr val="8A94A8"/>
                </a:solidFill>
                <a:latin typeface="Heebo"/>
                <a:cs typeface="Heebo"/>
              </a:rPr>
              <a:t>לחודש · 276,600 ₪ בשנה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60139" y="3108960"/>
            <a:ext cx="3271418" cy="658368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0139" y="3136392"/>
            <a:ext cx="3271418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700" b="1">
                <a:solidFill>
                  <a:srgbClr val="1C3C7A"/>
                </a:solidFill>
                <a:latin typeface="Heebo"/>
                <a:cs typeface="Heebo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0139" y="3474720"/>
            <a:ext cx="3271418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דיונים בחודש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1699" y="393192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· אדם קורגן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4419" y="393192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12,000 ₪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460139" y="427024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11699" y="429768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· חצי משרה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4419" y="429768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5,000 ₪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460139" y="463600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11699" y="466344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תוכן · חצי משרה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4419" y="466344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5,000 ₪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460139" y="500176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511699" y="502920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חברי דירקטוריון · 3 דיונים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4419" y="502920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1,050 ₪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460139" y="536752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511699" y="539496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אקטיביסטים · 3 דיונים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14419" y="539496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0">
                <a:solidFill>
                  <a:srgbClr val="8A94A8"/>
                </a:solidFill>
                <a:latin typeface="Heebo"/>
                <a:cs typeface="Heebo"/>
              </a:rPr>
              <a:t>בהתנדבות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460139" y="573328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460139" y="5806440"/>
            <a:ext cx="3271418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תעריף: 300 ₪ חצי יום · 450 ₪ יום מלא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1" y="1188720"/>
            <a:ext cx="363717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5C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1" y="1188720"/>
            <a:ext cx="3637178" cy="868680"/>
          </a:xfrm>
          <a:prstGeom prst="roundRect">
            <a:avLst>
              <a:gd name="adj" fmla="val 12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1" y="1280160"/>
            <a:ext cx="3637178" cy="384048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2000" b="1">
                <a:solidFill>
                  <a:srgbClr val="FFFFFF"/>
                </a:solidFill>
                <a:latin typeface="Heebo"/>
                <a:cs typeface="Heebo"/>
              </a:rPr>
              <a:t>מודל רזה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1" y="1664208"/>
            <a:ext cx="3454298" cy="329184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F0C000"/>
                </a:solidFill>
                <a:latin typeface="Heebo"/>
                <a:cs typeface="Heebo"/>
              </a:rPr>
              <a:t>מינימום דיונים · איש תוכן משותף עם 'על המשמעות'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1" y="2148840"/>
            <a:ext cx="3637178" cy="64008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3600" b="1">
                <a:solidFill>
                  <a:srgbClr val="1C3C7A"/>
                </a:solidFill>
                <a:latin typeface="Heebo"/>
                <a:cs typeface="Heebo"/>
              </a:rPr>
              <a:t>18,250 ₪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1" y="2743200"/>
            <a:ext cx="3637178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200" b="0">
                <a:solidFill>
                  <a:srgbClr val="8A94A8"/>
                </a:solidFill>
                <a:latin typeface="Heebo"/>
                <a:cs typeface="Heebo"/>
              </a:rPr>
              <a:t>לחודש · 219,000 ₪ בשנה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1" y="3108960"/>
            <a:ext cx="3271418" cy="658368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1" y="3136392"/>
            <a:ext cx="3271418" cy="34747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700" b="1">
                <a:solidFill>
                  <a:srgbClr val="1C3C7A"/>
                </a:solidFill>
                <a:latin typeface="Heebo"/>
                <a:cs typeface="Heebo"/>
              </a:rPr>
              <a:t>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1" y="3474720"/>
            <a:ext cx="3271418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דיונים בחודש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45921" y="393192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· אדם קורגן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1" y="393192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10,000 ₪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94361" y="427024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45921" y="429768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· חצי משרה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1" y="429768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5,000 ₪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1" y="463600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645921" y="466344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מנהל תוכן · משותף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1" y="466344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2,500 ₪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94361" y="500176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645921" y="502920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חברי דירקטוריון · 2 דיונים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1" y="502920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1">
                <a:solidFill>
                  <a:srgbClr val="1C3C7A"/>
                </a:solidFill>
                <a:latin typeface="Heebo"/>
                <a:cs typeface="Heebo"/>
              </a:rPr>
              <a:t>750 ₪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94361" y="536752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645921" y="5394960"/>
            <a:ext cx="2219858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100" b="0">
                <a:solidFill>
                  <a:srgbClr val="1A2233"/>
                </a:solidFill>
                <a:latin typeface="Heebo"/>
                <a:cs typeface="Heebo"/>
              </a:rPr>
              <a:t>אקטיביסטים · 2 דיונים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1" y="5394960"/>
            <a:ext cx="1097280" cy="31089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 rtl="1"/>
            <a:r>
              <a:rPr sz="1100" b="0">
                <a:solidFill>
                  <a:srgbClr val="8A94A8"/>
                </a:solidFill>
                <a:latin typeface="Heebo"/>
                <a:cs typeface="Heebo"/>
              </a:rPr>
              <a:t>בהתנדבות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94361" y="5733288"/>
            <a:ext cx="3271418" cy="0"/>
          </a:xfrm>
          <a:prstGeom prst="line">
            <a:avLst/>
          </a:prstGeom>
          <a:ln w="9525">
            <a:solidFill>
              <a:srgbClr val="C5C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94361" y="5806440"/>
            <a:ext cx="3271418" cy="25603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תעריף: 300 ₪ חצי יום · 450 ₪ יום מלא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6419088"/>
            <a:ext cx="11368735" cy="2743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ctr" rtl="1"/>
            <a:r>
              <a:rPr sz="1000" b="0">
                <a:solidFill>
                  <a:srgbClr val="8A94A8"/>
                </a:solidFill>
                <a:latin typeface="Heebo"/>
                <a:cs typeface="Heebo"/>
              </a:rPr>
              <a:t>כל נותני השירות פרילנסרים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