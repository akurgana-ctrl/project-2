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2356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49</a:t>
            </a:r>
            <a:r>
              <a:rPr sz="1300">
                <a:solidFill>
                  <a:srgbClr val="FFFFFF"/>
                </a:solidFill>
                <a:latin typeface="Heebo"/>
              </a:rPr>
              <a:t> אנשים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</a:t>
            </a:r>
            <a:r>
              <a:rPr sz="1300">
                <a:solidFill>
                  <a:srgbClr val="FFFFFF"/>
                </a:solidFill>
                <a:latin typeface="Heebo"/>
              </a:rPr>
              <a:t> צוותים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2 ·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32 ·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15 · נמוכה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166359" y="1097280"/>
            <a:ext cx="5577840" cy="5577840"/>
          </a:xfrm>
          <a:prstGeom prst="ellipse">
            <a:avLst/>
          </a:prstGeom>
          <a:solidFill>
            <a:srgbClr val="EEF1F7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035039" y="1965960"/>
            <a:ext cx="3840480" cy="3840480"/>
          </a:xfrm>
          <a:prstGeom prst="ellipse">
            <a:avLst/>
          </a:prstGeom>
          <a:solidFill>
            <a:srgbClr val="D9E1F0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7999" y="2788920"/>
            <a:ext cx="2194560" cy="2194560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7999" y="3044952"/>
            <a:ext cx="2194560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22755"/>
                </a:solidFill>
                <a:latin typeface="Heebo"/>
                <a:cs typeface="Heebo"/>
              </a:rPr>
              <a:t>הליבה · בשכר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7999" y="3246120"/>
            <a:ext cx="219456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800" b="1">
                <a:solidFill>
                  <a:srgbClr val="122755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39" y="3630168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תמיר דורטל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39" y="3877056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אמיר רובין /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39" y="4123944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39" y="4370832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22755"/>
                </a:solidFill>
                <a:latin typeface="Heebo"/>
                <a:cs typeface="Heebo"/>
              </a:rPr>
              <a:t>+ איש תוכן ותקשורת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63739" y="2112264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63739" y="2148840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63739" y="2407066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ניירות עמדה · טמיר שרגא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6101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101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דיגיטל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01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הפצה ברשתות · איתמר כהן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6645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6645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6645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מצטרפים לנציג · יהונתן יחזקאל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2279" y="1225296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79" y="1261872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הנהלה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79" y="1520098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מנכ״ל אדם קורגן + עוזר מנכ״ל (לאיוש)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9535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5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5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אודליה · נגה · שלומית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19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19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19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טל קופל · תמר ארבל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1325880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1325880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2002536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2002536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" y="278892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886200" y="291693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94760" y="291693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288036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נציג קבוע בכל דיון: זה מה שבונה אמינות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330098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אקטיביסט יגיע לדיון לבד רק כשאין בשום אופן נציג אחר. מערך שנשען על מתנדבים יקרוס בחיתוליו, גם תדמיתית וגם אופרטיבית.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429768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886200" y="442569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94760" y="442569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438912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איש התוכן: חלק מהצוות, לא ספק חיצוני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80974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רק מי שיושב בסדר היום מבפנים יכול להפוך כל דיון בכנסת לחשיפה: מהר, מדויק ואמין.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תמיר דורטל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מייסד · כלכלה, רגולציה וביטחון אישי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07568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075688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רפורמת נשק ארוך: לאפשר לאזרחים לרכוש נשק ארוך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23367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233672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רגולציה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92424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אישור נהיגה אוטונומית של טסלה בישראל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עו״ד אודליה קדמי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07568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075688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הקמת שדולה בכנסת למען האזרח החמוש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23367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233672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כוחות הביטחון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92424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קידום חוק חסינות למשרתי ומתנדבי כוחות הביטחון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שלומית לביא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רווחה ומשפחה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53710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53710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זכויות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הזכות לייצוג סוציאלי פרטי בהליכי משפט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1792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1792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זכויות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231526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הבטחת זכויות אזרח בהליכי משפחה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69874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9874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מחקר ומדיניות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39608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הקמת מו"פ למשרד הרווחה, לבתי המשפט למשפחה ולבתי הדין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77956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77956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פיקוח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447690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חיצונית לפיקוח וביקורת על משרד הרווחה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86038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86038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פיקוח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3160" y="555772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לפיקוח וביקורת על בתי המשפט לענייני משפחה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נגה ארבל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חקיקה · ביטחון אישי, ריבונות, צה״ל וחינוך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69000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22431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30991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1880" y="1600200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1880" y="1600200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69200" y="1234440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הגנה עצמית: זכות יסוד, בדומה לארה״ב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9000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222431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30991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1880" y="2752344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1880" y="2752344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טכנולוגיה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69200" y="2386584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הגנה ברשת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9000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222431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0991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1880" y="3904488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1880" y="3904488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רווחה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9200" y="3538728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ביטוח לאומי: איסור על העברת כספים לחו״ל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1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49544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464912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73472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1" y="1600200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1" y="1600200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צה״ל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1" y="1234440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רוח צה״ל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1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949544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464912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73472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1" y="2752344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1" y="2752344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חינוך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11681" y="2386584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מדדים בחינוך: המלצות מדיניות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1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949544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464912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73472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1" y="3904488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1" y="3904488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ריבונות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11681" y="3538728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למניעת כפיפות לאמנות בינלאומיות ללא אישור הכנסת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טל קופל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אתיקה, חינוך והתיישבות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53710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53710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התיישבות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ייהוד הגליל והנגב וגרעיני נח״ל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1792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1792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זהות יהודית בצה״ל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231526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קוד אתי חדש וחיל חינוך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69874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9874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מילואים וגבורה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39608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תגמול המילואים ושדולת הגבורה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77956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77956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זהות בחינוך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447690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חוק חינוך ממלכתי, תנ״ך, היסטוריה וחינוך ביתי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86038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86038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אקדמיה ומחקר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3160" y="555772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הפרדת ות״ת מהמל״ג ומוסד מחקר לאומי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פעילות כנסת · שבוע עבודה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12557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12557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3 ל-4 דיונים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2557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בכל שבוע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2019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62019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2019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דיונים, פגישות ושיחות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1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1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400 ל-600 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1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תגמול ליום כנסת · יום מלא או חצי יום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88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88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ראשון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003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הכנה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003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דיון במידה ויש · צוות המחקר מכין ניירות ותדריך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095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095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שני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09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09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101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101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שלישי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16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16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108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108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רביעי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22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22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חמישי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1" y="3474720"/>
            <a:ext cx="4470684" cy="566928"/>
          </a:xfrm>
          <a:prstGeom prst="roundRect">
            <a:avLst>
              <a:gd name="adj" fmla="val 18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1" y="3511296"/>
            <a:ext cx="419636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קביעת סדר היום לשבוע הבא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1" y="3767328"/>
            <a:ext cx="4196364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העברה לצוות המחקר ושיבוץ לדיונים · לא יאוחר מחמישי בבוקר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8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70168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מי הולך לכנסת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359124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533327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359124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29473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203676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29473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99822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874025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822" y="4764024"/>
            <a:ext cx="1238211" cy="261518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99822" y="4985766"/>
            <a:ext cx="1238211" cy="2011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או עו״ד אודליה קדמי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70171" y="4709160"/>
            <a:ext cx="1238211" cy="502920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71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70168" y="534924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נציג רביעי: משרה חלקית, או בשילוב עם תפקיד איש התוכן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70168" y="5760720"/>
            <a:ext cx="5227167" cy="64008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61608" y="5760720"/>
            <a:ext cx="5044287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+ אקטיביסטים משלימים חורים ומצטרפים לנציג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1480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360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איש תוכן ותקשורת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" y="461772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משרה חלקית בכח התערבות · אפשר בשילוב עם 'על המשמעות'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507492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לוקח חלק פעיל בסדר היום של הארגון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" y="562356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איתו בונים את החשיפה בתקשורת וברשתות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שלב א׳ · שינוי מבני, בלי לגעת בשכר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40680" y="1188720"/>
            <a:ext cx="6339535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0" y="1188720"/>
            <a:ext cx="3413455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תפקיד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188720"/>
            <a:ext cx="128016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לחודש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188720"/>
            <a:ext cx="137160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שינוי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166420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6420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מנכ״ל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66420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12,000 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77393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177393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249424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249424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249424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5915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359152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2834640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2834640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834640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294436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2944368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0680" y="3419856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419856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חברי דירקטוריון · 2 דיונים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19856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750 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77840" y="35295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0" y="3529584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במקום נציג 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005072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4005072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אקטיביסטים · 2 דיונים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4005072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בהתנדבות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77840" y="41148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0" y="4114800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חדש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459028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59028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תמיר דורטל · 4 דיונים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59028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70001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470001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בעלים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1188720"/>
            <a:ext cx="4754880" cy="2331720"/>
          </a:xfrm>
          <a:prstGeom prst="roundRect">
            <a:avLst>
              <a:gd name="adj" fmla="val 6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1325880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0C000"/>
                </a:solidFill>
                <a:latin typeface="Heebo"/>
                <a:cs typeface="Heebo"/>
              </a:rPr>
              <a:t>עלות חודשית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1600200"/>
            <a:ext cx="4754880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4400" b="1">
                <a:solidFill>
                  <a:srgbClr val="FFFFFF"/>
                </a:solidFill>
                <a:latin typeface="Heebo"/>
                <a:cs typeface="Heebo"/>
              </a:rPr>
              <a:t>22,750 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2304288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FFFFF"/>
                </a:solidFill>
                <a:latin typeface="Heebo"/>
                <a:cs typeface="Heebo"/>
              </a:rPr>
              <a:t>273,000 ₪ בשנה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34640" y="2697480"/>
            <a:ext cx="214884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834640" y="2715768"/>
            <a:ext cx="214884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34640" y="3054096"/>
            <a:ext cx="214884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" y="2697480"/>
            <a:ext cx="214884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2715768"/>
            <a:ext cx="214884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1,750 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4360" y="3054096"/>
            <a:ext cx="214884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לדיון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1480" y="3703320"/>
            <a:ext cx="475488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4360" y="3813048"/>
            <a:ext cx="43891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מה משתנה בשלב הזה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4434840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אין נציג 4: הדיונים מתחלקים בין הצוות, הדירקטוריון והאקטיביסטים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5056632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תעריף פתיחה ליום כנסת: 300 ₪ חצי יום · 450 ₪ יום מלא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678424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סדר היום לשבוע הבא נסגר עד חמישי בבוקר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שלב ב׳ · שכר מספק למערך מלא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40680" y="1188720"/>
            <a:ext cx="6339535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0" y="1188720"/>
            <a:ext cx="3413455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תפקיד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188720"/>
            <a:ext cx="128016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לחודש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188720"/>
            <a:ext cx="137160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שינוי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166420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6420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מנכ״ל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66420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15,000 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77393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177393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+3,000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249424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249424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249424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7,000 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5915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359152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+2,000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2834640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2834640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834640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6,000 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294436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2944368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+1,000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0680" y="3419856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419856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נציג 3 · 4 דיונים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19856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77840" y="35295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0" y="3529584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 מלא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005072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4005072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נציג 4 · 4 דיונים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4005072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77840" y="41148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0" y="4114800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חוזר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459028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59028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תמיר דורטל · 4 דיונים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59028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70001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470001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בעלים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1188720"/>
            <a:ext cx="4754880" cy="2331720"/>
          </a:xfrm>
          <a:prstGeom prst="roundRect">
            <a:avLst>
              <a:gd name="adj" fmla="val 6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1325880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0C000"/>
                </a:solidFill>
                <a:latin typeface="Heebo"/>
                <a:cs typeface="Heebo"/>
              </a:rPr>
              <a:t>עלות חודשית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1600200"/>
            <a:ext cx="4754880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4400" b="1">
                <a:solidFill>
                  <a:srgbClr val="FFFFFF"/>
                </a:solidFill>
                <a:latin typeface="Heebo"/>
                <a:cs typeface="Heebo"/>
              </a:rPr>
              <a:t>31,600 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2304288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FFFFF"/>
                </a:solidFill>
                <a:latin typeface="Heebo"/>
                <a:cs typeface="Heebo"/>
              </a:rPr>
              <a:t>379,200 ₪ בשנה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34640" y="2697480"/>
            <a:ext cx="214884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834640" y="2715768"/>
            <a:ext cx="214884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34640" y="3054096"/>
            <a:ext cx="214884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" y="2697480"/>
            <a:ext cx="214884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2715768"/>
            <a:ext cx="214884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1,975 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4360" y="3054096"/>
            <a:ext cx="214884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לדיון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1480" y="3703320"/>
            <a:ext cx="475488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81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4360" y="3813048"/>
            <a:ext cx="43891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שכר מספק הוא השקעה, לא הוצאה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4434840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מי שמתפרנס מהתפקיד מתחייב אליו: מגיע לכל דיון, מוכן, ולאורך זמן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5056632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פחות תחלופה = פחות חפיפות, ויותר היכרות אישית עם חברי הכנסת והיועצים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678424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דיון שחסכנו עליו עולה מעט. דיון שפספסנו עולה בחוק שעבר בלעדינו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הוצאות · שלושה מודלים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43037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43037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43037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אידיאלי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34477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צוות מלא בשכר מספק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43037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31,600 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43037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379,200 ₪ בשנה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07346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07346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07346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5917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5917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1,975 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5917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לדיון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7477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0197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15,000 ₪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325917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377477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0197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7,000 ₪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325917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377477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0197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6,000 ₪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325917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377477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 3 · 4 דיונים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0197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325917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377477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 4 · 4 דיונים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0197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25917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325917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400 ₪ חצי יום · 600 ₪ יום מלא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5917" y="6080760"/>
            <a:ext cx="327141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מימון: כ-6 שותפים מייסדים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77259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81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277259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77259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ביניים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68699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בלי נציג 4 · דירקטוריון ואקטיביסטים משלימים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55768" y="1033272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55768" y="1033272"/>
            <a:ext cx="128016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המלצה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77259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23,050 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77259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276,600 ₪ בשנה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41568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41568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1568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460139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60139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1,440 ₪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60139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לדיון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11699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14419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12,000 ₪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460139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511699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14419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460139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511699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14419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460139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5511699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חברי דירקטוריון · 3 דיונים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14419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1,050 ₪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460139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5511699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אקטיביסטים · 3 דיונים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14419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בהתנדבות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4460139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4460139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300 ₪ חצי יום · 450 ₪ יום מלא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60139" y="6080760"/>
            <a:ext cx="327141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מימון: כ-5 שותפים מייסדים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1481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11481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1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רזה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1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מינימום דיונים · איש תוכן משותף עם 'על המשמעות'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1481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18,250 ₪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1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219,000 ₪ בשנה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275790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275790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75790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94361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94361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1,400 ₪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4361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לדיון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45921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8641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10,000 ₪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594361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1645921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8641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594361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1645921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משותף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1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2,500 ₪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594361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1645921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חברי דירקטוריון · 2 דיונים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48641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750 ₪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94361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1645921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אקטיביסטים · 2 דיונים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48641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בהתנדבות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594361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594361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300 ₪ חצי יום · 450 ₪ יום מלא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94361" y="6080760"/>
            <a:ext cx="327141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מימון: כ-4 שותפים מייסדים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11480" y="6419088"/>
            <a:ext cx="11368735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כל נותני השירות פרילנסרים · תמיר דורטל ללא שכר · שותף מייסד = 5,000 ₪ בחודש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