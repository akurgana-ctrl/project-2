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150998" y="1051560"/>
            <a:ext cx="6629217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242438" y="1088136"/>
            <a:ext cx="6446337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מובילי תחום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42438" y="1106424"/>
            <a:ext cx="6446337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 + הופעות בכנסת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0956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624767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0956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0956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ביטחון אישי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21697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445508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21697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1697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42438" y="1380744"/>
            <a:ext cx="208781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6249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42438" y="1435608"/>
            <a:ext cx="208781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42438" y="1632204"/>
            <a:ext cx="208781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רווחה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1051560"/>
            <a:ext cx="4419478" cy="841248"/>
          </a:xfrm>
          <a:prstGeom prst="roundRect">
            <a:avLst>
              <a:gd name="adj" fmla="val 8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1088136"/>
            <a:ext cx="4236598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יועצים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1106424"/>
            <a:ext cx="4236598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מובילים את התוכניות שלהם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66939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75510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66939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66939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חינוך ואתיקה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1380744"/>
            <a:ext cx="2072579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511491" y="145389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1435608"/>
            <a:ext cx="2072579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632204"/>
            <a:ext cx="2072579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משפט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5847" y="1892808"/>
            <a:ext cx="0" cy="21031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3429000" y="2103120"/>
            <a:ext cx="5330952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2651760"/>
            <a:ext cx="118186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66160" y="3337560"/>
            <a:ext cx="505663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66160" y="3383280"/>
            <a:ext cx="5056632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איש תוכן קבוע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66160" y="3648456"/>
            <a:ext cx="50566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000" b="0">
                <a:solidFill>
                  <a:srgbClr val="8A94A8"/>
                </a:solidFill>
                <a:latin typeface="Heebo"/>
                <a:cs typeface="Heebo"/>
              </a:rPr>
              <a:t>חלק אינטגרלי מהצוות · עוקב באופן עקבי אחרי סדר היום ומפיק תוכן בזמן אמת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4934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4934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566160" y="4023360"/>
            <a:ext cx="247345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566160" y="4023360"/>
            <a:ext cx="247345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3" name="Connector 62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אקטיביסטים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>
            <a:off x="6094476" y="4709160"/>
            <a:ext cx="0" cy="32004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174236" y="5029200"/>
            <a:ext cx="384048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74236" y="5102352"/>
            <a:ext cx="384048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מתנדבים · איתמר כהן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74236" y="5431536"/>
            <a:ext cx="3840480" cy="25603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הפקה והפצה ברשתות של התוכן מהכנסת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א׳ · תוכנית עבודה · רווחה ומשפחה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שלומית לביא · ראש תחום רווחה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143000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323015" y="1601343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601343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28455" y="1143000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ייצוג סוציאלי פרטי בהליכי משפט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478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965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 ונתונים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965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965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51393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257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נוסח חוק: חוות דעת סוציאלית נגדית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257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תמר ארבל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257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21052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00799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6286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גיוס חברי כנסת מגישים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286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6286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577657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64603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19467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19467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19467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3834262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21208" y="1252728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1289304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בוועדת העבודה והרווחה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72" y="187954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+ איש תוכן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" y="2067595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א׳–ב׳</a:t>
            </a:r>
          </a:p>
        </p:txBody>
      </p:sp>
      <p:cxnSp>
        <p:nvCxnSpPr>
          <p:cNvPr id="35" name="Connector 34"/>
          <p:cNvCxnSpPr/>
          <p:nvPr/>
        </p:nvCxnSpPr>
        <p:spPr>
          <a:xfrm flipH="1">
            <a:off x="2090867" y="1775079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1480" y="2535174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323015" y="2993517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231575" y="2993517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28455" y="2535174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זכויות אזרח בהליכי משפחה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494788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549652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מיפוי פערים בזכויות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549652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49652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751393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06257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אמנת זכויות בהליכי משפחה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06257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06257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7321052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007998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062862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דיון מהיר בוועדת החוקה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2862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62862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תחילת מושב א׳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5577657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2264603" y="2644902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319467" y="2681478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צירוף כפרק להצעת החוק של תוכנית 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19467" y="327172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19467" y="3459769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58" name="Connector 57"/>
          <p:cNvCxnSpPr/>
          <p:nvPr/>
        </p:nvCxnSpPr>
        <p:spPr>
          <a:xfrm flipH="1">
            <a:off x="3834262" y="3167253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ounded Rectangle 58"/>
          <p:cNvSpPr/>
          <p:nvPr/>
        </p:nvSpPr>
        <p:spPr>
          <a:xfrm>
            <a:off x="411480" y="3927348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323015" y="4385691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231575" y="4385691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28455" y="3927348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מו"פ לרווחה ולבתי המשפט למשפחה ובתי הדין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494788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49652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 עמדה ומודלים מהעולם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49652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49652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751393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06257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סעיף מו"פ בתקציב משרד הרווחה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06257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צוות הכנסת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06257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דיוני התקציב</a:t>
            </a:r>
          </a:p>
        </p:txBody>
      </p:sp>
      <p:cxnSp>
        <p:nvCxnSpPr>
          <p:cNvPr id="71" name="Connector 70"/>
          <p:cNvCxnSpPr/>
          <p:nvPr/>
        </p:nvCxnSpPr>
        <p:spPr>
          <a:xfrm flipH="1">
            <a:off x="7321052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4007998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62862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שאילתות לשרי הרווחה והמשפטים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2862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062862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5577657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2264603" y="4037076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19467" y="4073652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פיילוט עם אקדמיה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319467" y="466389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19467" y="4851943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שנה א׳</a:t>
            </a:r>
          </a:p>
        </p:txBody>
      </p:sp>
      <p:cxnSp>
        <p:nvCxnSpPr>
          <p:cNvPr id="81" name="Connector 80"/>
          <p:cNvCxnSpPr/>
          <p:nvPr/>
        </p:nvCxnSpPr>
        <p:spPr>
          <a:xfrm flipH="1">
            <a:off x="3834262" y="4559427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ounded Rectangle 81"/>
          <p:cNvSpPr/>
          <p:nvPr/>
        </p:nvSpPr>
        <p:spPr>
          <a:xfrm>
            <a:off x="411480" y="5319522"/>
            <a:ext cx="11368735" cy="126415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1323015" y="5777865"/>
            <a:ext cx="347472" cy="347472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1231575" y="5777865"/>
            <a:ext cx="530352" cy="347472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4-5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28455" y="5319522"/>
            <a:ext cx="2103120" cy="126415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נציבויות פיקוח חיצוניות על הרווחה ועל בתי המשפט למשפחה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749478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54965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נייר: למה הגופים הקיימים לא מספיקים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4965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4965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751393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806257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חוק אחד בשני פרקים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806257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 + תמר ארבל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806257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לפני הבחירות</a:t>
            </a:r>
          </a:p>
        </p:txBody>
      </p:sp>
      <p:cxnSp>
        <p:nvCxnSpPr>
          <p:cNvPr id="94" name="Connector 93"/>
          <p:cNvCxnSpPr/>
          <p:nvPr/>
        </p:nvCxnSpPr>
        <p:spPr>
          <a:xfrm flipH="1">
            <a:off x="7321052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400799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06286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הקמת שדולה לזכויות המשפחה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06286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צוות הכנסת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06286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אחרי הבחירות</a:t>
            </a:r>
          </a:p>
        </p:txBody>
      </p:sp>
      <p:cxnSp>
        <p:nvCxnSpPr>
          <p:cNvPr id="99" name="Connector 98"/>
          <p:cNvCxnSpPr/>
          <p:nvPr/>
        </p:nvCxnSpPr>
        <p:spPr>
          <a:xfrm flipH="1">
            <a:off x="5577657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ounded Rectangle 99"/>
          <p:cNvSpPr/>
          <p:nvPr/>
        </p:nvSpPr>
        <p:spPr>
          <a:xfrm>
            <a:off x="2264603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19467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הנחה וקריאה טרומית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19467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נציג בכנסת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319467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א׳</a:t>
            </a:r>
          </a:p>
        </p:txBody>
      </p:sp>
      <p:cxnSp>
        <p:nvCxnSpPr>
          <p:cNvPr id="104" name="Connector 103"/>
          <p:cNvCxnSpPr/>
          <p:nvPr/>
        </p:nvCxnSpPr>
        <p:spPr>
          <a:xfrm flipH="1">
            <a:off x="3834262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521208" y="5429250"/>
            <a:ext cx="1542227" cy="1044702"/>
          </a:xfrm>
          <a:prstGeom prst="roundRect">
            <a:avLst>
              <a:gd name="adj" fmla="val 10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76072" y="5465826"/>
            <a:ext cx="1432499" cy="605927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גיבוי: יחידה ייעודית אצל נציב התלונות על שופטים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76072" y="6056071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1C3C7A"/>
                </a:solidFill>
                <a:latin typeface="Heebo"/>
                <a:cs typeface="Heebo"/>
              </a:rPr>
              <a:t>שלומית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72" y="6244117"/>
            <a:ext cx="1432499" cy="2089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מושב ב׳</a:t>
            </a:r>
          </a:p>
        </p:txBody>
      </p:sp>
      <p:cxnSp>
        <p:nvCxnSpPr>
          <p:cNvPr id="109" name="Connector 108"/>
          <p:cNvCxnSpPr/>
          <p:nvPr/>
        </p:nvCxnSpPr>
        <p:spPr>
          <a:xfrm flipH="1">
            <a:off x="2090867" y="5951601"/>
            <a:ext cx="146304" cy="0"/>
          </a:xfrm>
          <a:prstGeom prst="line">
            <a:avLst/>
          </a:prstGeom>
          <a:ln w="25400">
            <a:solidFill>
              <a:srgbClr val="F0C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ב׳ · תוכנית עבודה · התיישבות וצבא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 · 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097280"/>
            <a:ext cx="11368735" cy="329184"/>
          </a:xfrm>
          <a:prstGeom prst="roundRect">
            <a:avLst>
              <a:gd name="adj" fmla="val 1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96167" y="1097280"/>
            <a:ext cx="3108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4167" y="1097280"/>
            <a:ext cx="44256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תוכנית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487" y="1097280"/>
            <a:ext cx="186537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מסלול פעולה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3687" y="1097280"/>
            <a:ext cx="16824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ועדה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" y="1097280"/>
            <a:ext cx="235000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צעד ראשון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499616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התיישבות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47088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05311" y="193338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13871" y="193338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4167" y="1847088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הטמעת המושג 'ייהוד' הגליל והנגב בעבודת הממשלה והמוסדות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2487" y="1847088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החלטת ממשלה · שאילתות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687" y="1847088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הפנים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375" y="1847088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מיפוי המונחים במסמכים רשמיים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367153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716207" y="2422017"/>
            <a:ext cx="54864" cy="355473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1405311" y="2453449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3871" y="2453449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4167" y="2367153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תוכנית מעשית לייהוד הגליל והנגב: כלכלה, מגורים, חקלאות ותעשייה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2487" y="2367153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תקציב · החלטת ממשלה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3687" y="2367153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הכספים · הפנים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" y="2367153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מדיניות עם תמחור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2887218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05311" y="297351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13871" y="297351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4167" y="2887218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גרעיני נח"ל ביו"ש, עזה, לבנון וסוריה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2487" y="2887218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עבודה מול משרד הביטחון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83687" y="2887218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7375" y="2887218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 ופגישה במשרד הביטחון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3407283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צבא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1480" y="375475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1405311" y="3841051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313871" y="384105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24167" y="375475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קוד אתי חדש לצה"ל מנקודת מבט יהודית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12487" y="375475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דיון בוועדה · שדולה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83687" y="375475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7375" y="375475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על בסיס מסמכי 'תורת המדינה'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274820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1405311" y="4361116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313871" y="4361116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24167" y="4274820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סגירת חיל חינוך ופתיחתו מחדש ברוח 'אגף תודעה יהודית'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12487" y="4274820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 · שאילתות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83687" y="4274820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7375" y="4274820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479488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1405311" y="4881181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313871" y="488118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24167" y="479488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גיוון בפיקוד בח"א, במודיעין וביחידות המובחרות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2487" y="479488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 · בקשת נתונים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983687" y="479488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7375" y="479488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שאילתות על הרכב הפיקוד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11480" y="5314950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11405311" y="5401246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313871" y="5401246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824167" y="5314950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שינוי תגמול המילואים וחיבורו ליעדים הלאומיים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2487" y="5314950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 · תקציב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83687" y="5314950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 · הכספים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7375" y="5314950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עלויות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11480" y="5835015"/>
            <a:ext cx="11368735" cy="465201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1716207" y="5889879"/>
            <a:ext cx="54864" cy="355473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1405311" y="5921311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313871" y="5921311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24167" y="5835015"/>
            <a:ext cx="44256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שדולת הגבורה: מעקב אחר מדיניות עיטורים וצל"שים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12487" y="5835015"/>
            <a:ext cx="186537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שדולה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83687" y="5835015"/>
            <a:ext cx="1682496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החוץ והביטחון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375" y="5835015"/>
            <a:ext cx="2350008" cy="465201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גיוס יו"ר לשדולה</a:t>
            </a:r>
          </a:p>
        </p:txBody>
      </p:sp>
      <p:sp>
        <p:nvSpPr>
          <p:cNvPr id="74" name="Oval 73"/>
          <p:cNvSpPr/>
          <p:nvPr/>
        </p:nvSpPr>
        <p:spPr>
          <a:xfrm>
            <a:off x="411480" y="6473952"/>
            <a:ext cx="219456" cy="219456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20040" y="6473952"/>
            <a:ext cx="402336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5800" y="6437376"/>
            <a:ext cx="274320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תוכנית דגל מומלצת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נספח ב׳ · תוכנית עבודה · חינוך ואקדמיה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טל קופל · אתיקה, חינוך והתיישבות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11480" y="1097280"/>
            <a:ext cx="11368735" cy="329184"/>
          </a:xfrm>
          <a:prstGeom prst="roundRect">
            <a:avLst>
              <a:gd name="adj" fmla="val 15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96167" y="1097280"/>
            <a:ext cx="3108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24167" y="1097280"/>
            <a:ext cx="44256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תוכנית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2487" y="1097280"/>
            <a:ext cx="186537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מסלול פעולה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83687" y="1097280"/>
            <a:ext cx="1682496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ועדה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" y="1097280"/>
            <a:ext cx="2350008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צעד ראשון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499616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חינוך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4708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05311" y="194767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13871" y="194767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24167" y="184708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תוכנית בנוסח 'לתת חמש' לזהות: תנ"ך והיסטוריה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2487" y="184708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משרד החינוך · תקציב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83687" y="184708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7375" y="184708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מתווה תוכנית ועלויות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239572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1405311" y="249631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13871" y="249631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24167" y="239572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לימוד מבנה סידור התפילה בתיכון (מודל פרופ׳ שביד)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2487" y="239572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תוכנית לימודים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83687" y="239572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375" y="239572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פנייה למזכירות הפדגוגית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294436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716207" y="2999232"/>
            <a:ext cx="54864" cy="38404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405311" y="3044952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13871" y="304495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24167" y="294436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תיקון סעיף 2 לחוק חינוך ממלכתי: ערכים לאומיים־אמוניים וגבורה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12487" y="294436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83687" y="294436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7375" y="294436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נוסח הצעת חוק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11480" y="3493008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1405311" y="3593592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313871" y="3593592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24167" y="3493008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הקלות רגולטוריות והכרה במס לחינוך ביתי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12487" y="3493008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תקנות · מיסוי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83687" y="3493008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 · הכספים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7375" y="3493008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השוואתי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041648"/>
            <a:ext cx="11368735" cy="31089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אקדמיה ומחקר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38912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716207" y="4443984"/>
            <a:ext cx="54864" cy="38404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1405311" y="4489704"/>
            <a:ext cx="292608" cy="292608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313871" y="448970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122755"/>
                </a:solidFill>
                <a:latin typeface="Heebo"/>
                <a:cs typeface="Heebo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24167" y="438912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הפרדת ות"ת מהמל"ג וגיוון אידיאולוגי ואמוני בשתיהן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2487" y="438912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חקיקה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983687" y="438912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7375" y="438912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נייר עמדה ונוסח תיקון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11480" y="493776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1405311" y="503834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313871" y="503834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24167" y="493776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ניטור מכון ון ליר והמי"ל, כולל הנחות ארנונה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12487" y="493776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פיקוח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83687" y="493776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7375" y="493776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שאילתות ובקשות חופש מידע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486400"/>
            <a:ext cx="11368735" cy="49377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1405311" y="5586984"/>
            <a:ext cx="292608" cy="292608"/>
          </a:xfrm>
          <a:prstGeom prst="ellipse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313871" y="5586984"/>
            <a:ext cx="47548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24167" y="5486400"/>
            <a:ext cx="44256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מוסד מחקר מקביל לקידום 'תרבות הלאום היהודי'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12487" y="5486400"/>
            <a:ext cx="186537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תקציב · תורמים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83687" y="5486400"/>
            <a:ext cx="1682496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C3C7A"/>
                </a:solidFill>
                <a:latin typeface="Heebo"/>
                <a:cs typeface="Heebo"/>
              </a:rPr>
              <a:t>החינוך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7375" y="5486400"/>
            <a:ext cx="2350008" cy="49377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מודל משפטי ותקציבי</a:t>
            </a:r>
          </a:p>
        </p:txBody>
      </p:sp>
      <p:sp>
        <p:nvSpPr>
          <p:cNvPr id="67" name="Oval 66"/>
          <p:cNvSpPr/>
          <p:nvPr/>
        </p:nvSpPr>
        <p:spPr>
          <a:xfrm>
            <a:off x="411480" y="6473952"/>
            <a:ext cx="219456" cy="219456"/>
          </a:xfrm>
          <a:prstGeom prst="ellipse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20040" y="6473952"/>
            <a:ext cx="402336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0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/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" y="6437376"/>
            <a:ext cx="274320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 rtl="1"/>
            <a:r>
              <a:rPr sz="1000" b="0">
                <a:solidFill>
                  <a:srgbClr val="1A2233"/>
                </a:solidFill>
                <a:latin typeface="Heebo"/>
                <a:cs typeface="Heebo"/>
              </a:rPr>
              <a:t>תוכנית דגל מומלצת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